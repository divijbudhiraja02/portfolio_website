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227"/>
          </a:solidFill>
          <a:ln/>
        </p:spPr>
      </p:sp>
      <p:sp>
        <p:nvSpPr>
          <p:cNvPr id="3" name="Text 1"/>
          <p:cNvSpPr/>
          <p:nvPr/>
        </p:nvSpPr>
        <p:spPr>
          <a:xfrm>
            <a:off x="457200" y="1463040"/>
            <a:ext cx="5486400" cy="82296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ASML Holding N.V.</a:t>
            </a:r>
            <a:endParaRPr lang="en-US" sz="4200" dirty="0"/>
          </a:p>
        </p:txBody>
      </p:sp>
      <p:sp>
        <p:nvSpPr>
          <p:cNvPr id="4" name="Text 2"/>
          <p:cNvSpPr/>
          <p:nvPr/>
        </p:nvSpPr>
        <p:spPr>
          <a:xfrm>
            <a:off x="457200" y="2286000"/>
            <a:ext cx="5486400" cy="365760"/>
          </a:xfrm>
          <a:prstGeom prst="rect">
            <a:avLst/>
          </a:prstGeom>
          <a:noFill/>
          <a:ln/>
        </p:spPr>
        <p:txBody>
          <a:bodyPr wrap="square" rtlCol="0" anchor="ctr"/>
          <a:lstStyle/>
          <a:p>
            <a:pPr indent="0" marL="0">
              <a:buNone/>
            </a:pPr>
            <a:r>
              <a:rPr lang="en-US" sz="2000" dirty="0">
                <a:solidFill>
                  <a:srgbClr val="C9A227"/>
                </a:solidFill>
                <a:latin typeface="Calibri" pitchFamily="34" charset="0"/>
                <a:ea typeface="Calibri" pitchFamily="34" charset="-122"/>
                <a:cs typeface="Calibri" pitchFamily="34" charset="-120"/>
              </a:rPr>
              <a:t>Equity Research &amp; Valuation Analysis</a:t>
            </a:r>
            <a:endParaRPr lang="en-US" sz="2000" dirty="0"/>
          </a:p>
        </p:txBody>
      </p:sp>
      <p:sp>
        <p:nvSpPr>
          <p:cNvPr id="5" name="Shape 3"/>
          <p:cNvSpPr/>
          <p:nvPr/>
        </p:nvSpPr>
        <p:spPr>
          <a:xfrm>
            <a:off x="457200" y="2926080"/>
            <a:ext cx="4114800" cy="1371600"/>
          </a:xfrm>
          <a:prstGeom prst="rect">
            <a:avLst/>
          </a:prstGeom>
          <a:solidFill>
            <a:srgbClr val="061325"/>
          </a:solidFill>
          <a:ln/>
        </p:spPr>
      </p:sp>
      <p:sp>
        <p:nvSpPr>
          <p:cNvPr id="6" name="Text 4"/>
          <p:cNvSpPr/>
          <p:nvPr/>
        </p:nvSpPr>
        <p:spPr>
          <a:xfrm>
            <a:off x="640080" y="3063240"/>
            <a:ext cx="3749040" cy="1188720"/>
          </a:xfrm>
          <a:prstGeom prst="rect">
            <a:avLst/>
          </a:prstGeom>
          <a:noFill/>
          <a:ln/>
        </p:spPr>
        <p:txBody>
          <a:bodyPr wrap="square" rtlCol="0" anchor="t"/>
          <a:lstStyle/>
          <a:p>
            <a:pPr indent="0" marL="0">
              <a:buNone/>
            </a:pPr>
            <a:r>
              <a:rPr lang="en-US" sz="1100" b="1" dirty="0">
                <a:solidFill>
                  <a:srgbClr val="C9A227"/>
                </a:solidFill>
              </a:rPr>
              <a:t>EURONEXT: ASML  |  NASDAQ: ASML</a:t>
            </a:r>
            <a:endParaRPr lang="en-US" sz="1100" dirty="0"/>
          </a:p>
          <a:p>
            <a:pPr indent="0" marL="0">
              <a:buNone/>
            </a:pPr>
            <a:r>
              <a:rPr lang="en-US" sz="600" dirty="0">
                <a:solidFill>
                  <a:srgbClr val="000000"/>
                </a:solidFill>
              </a:rPr>
              <a:t> </a:t>
            </a:r>
            <a:endParaRPr lang="en-US" sz="1100" dirty="0"/>
          </a:p>
          <a:p>
            <a:pPr indent="0" marL="0">
              <a:buNone/>
            </a:pPr>
            <a:r>
              <a:rPr lang="en-US" sz="1000" dirty="0">
                <a:solidFill>
                  <a:srgbClr val="FFFFFF"/>
                </a:solidFill>
              </a:rPr>
              <a:t>Semiconductor Equipment  |  Veldhoven, Netherlands</a:t>
            </a:r>
            <a:endParaRPr lang="en-US" sz="1100" dirty="0"/>
          </a:p>
          <a:p>
            <a:pPr indent="0" marL="0">
              <a:buNone/>
            </a:pPr>
            <a:r>
              <a:rPr lang="en-US" sz="1000" dirty="0">
                <a:solidFill>
                  <a:srgbClr val="FFFFFF"/>
                </a:solidFill>
              </a:rPr>
              <a:t>Market Cap: €471.8B  |  EV: €469.4B</a:t>
            </a:r>
            <a:endParaRPr lang="en-US" sz="1100" dirty="0"/>
          </a:p>
          <a:p>
            <a:pPr indent="0" marL="0">
              <a:buNone/>
            </a:pPr>
            <a:r>
              <a:rPr lang="en-US" sz="1000" dirty="0">
                <a:solidFill>
                  <a:srgbClr val="FFFFFF"/>
                </a:solidFill>
              </a:rPr>
              <a:t>Current Price: €652  |  Beta: 1.69x</a:t>
            </a:r>
            <a:endParaRPr lang="en-US" sz="1100" dirty="0"/>
          </a:p>
        </p:txBody>
      </p:sp>
      <p:sp>
        <p:nvSpPr>
          <p:cNvPr id="7" name="Text 5"/>
          <p:cNvSpPr/>
          <p:nvPr/>
        </p:nvSpPr>
        <p:spPr>
          <a:xfrm>
            <a:off x="457200" y="4663440"/>
            <a:ext cx="3657600" cy="228600"/>
          </a:xfrm>
          <a:prstGeom prst="rect">
            <a:avLst/>
          </a:prstGeom>
          <a:noFill/>
          <a:ln/>
        </p:spPr>
        <p:txBody>
          <a:bodyPr wrap="square" rtlCol="0" anchor="ctr"/>
          <a:lstStyle/>
          <a:p>
            <a:pPr indent="0" marL="0">
              <a:buNone/>
            </a:pPr>
            <a:r>
              <a:rPr lang="en-US" sz="900" i="1" dirty="0">
                <a:solidFill>
                  <a:srgbClr val="E0E0E0"/>
                </a:solidFill>
                <a:latin typeface="Calibri" pitchFamily="34" charset="0"/>
                <a:ea typeface="Calibri" pitchFamily="34" charset="-122"/>
                <a:cs typeface="Calibri" pitchFamily="34" charset="-120"/>
              </a:rPr>
              <a:t>February 2026  |  Strictly Confidential</a:t>
            </a:r>
            <a:endParaRPr lang="en-US" sz="900" dirty="0"/>
          </a:p>
        </p:txBody>
      </p:sp>
      <p:sp>
        <p:nvSpPr>
          <p:cNvPr id="8" name="Shape 6"/>
          <p:cNvSpPr/>
          <p:nvPr/>
        </p:nvSpPr>
        <p:spPr>
          <a:xfrm>
            <a:off x="5669280" y="1645920"/>
            <a:ext cx="3017520" cy="2926080"/>
          </a:xfrm>
          <a:prstGeom prst="rect">
            <a:avLst/>
          </a:prstGeom>
          <a:solidFill>
            <a:srgbClr val="C9A227"/>
          </a:solidFill>
          <a:ln/>
        </p:spPr>
      </p:sp>
      <p:sp>
        <p:nvSpPr>
          <p:cNvPr id="9" name="Text 7"/>
          <p:cNvSpPr/>
          <p:nvPr/>
        </p:nvSpPr>
        <p:spPr>
          <a:xfrm>
            <a:off x="5669280" y="1828800"/>
            <a:ext cx="3017520" cy="1005840"/>
          </a:xfrm>
          <a:prstGeom prst="rect">
            <a:avLst/>
          </a:prstGeom>
          <a:noFill/>
          <a:ln/>
        </p:spPr>
        <p:txBody>
          <a:bodyPr wrap="square" rtlCol="0" anchor="ctr"/>
          <a:lstStyle/>
          <a:p>
            <a:pPr algn="ctr" indent="0" marL="0">
              <a:buNone/>
            </a:pPr>
            <a:r>
              <a:rPr lang="en-US" sz="5600" b="1" dirty="0">
                <a:solidFill>
                  <a:srgbClr val="0A2647"/>
                </a:solidFill>
                <a:latin typeface="Georgia" pitchFamily="34" charset="0"/>
                <a:ea typeface="Georgia" pitchFamily="34" charset="-122"/>
                <a:cs typeface="Georgia" pitchFamily="34" charset="-120"/>
              </a:rPr>
              <a:t>100%</a:t>
            </a:r>
            <a:endParaRPr lang="en-US" sz="5600" dirty="0"/>
          </a:p>
        </p:txBody>
      </p:sp>
      <p:sp>
        <p:nvSpPr>
          <p:cNvPr id="10" name="Text 8"/>
          <p:cNvSpPr/>
          <p:nvPr/>
        </p:nvSpPr>
        <p:spPr>
          <a:xfrm>
            <a:off x="5669280" y="2743200"/>
            <a:ext cx="3017520" cy="320040"/>
          </a:xfrm>
          <a:prstGeom prst="rect">
            <a:avLst/>
          </a:prstGeom>
          <a:noFill/>
          <a:ln/>
        </p:spPr>
        <p:txBody>
          <a:bodyPr wrap="square" rtlCol="0" anchor="ctr"/>
          <a:lstStyle/>
          <a:p>
            <a:pPr algn="ctr" indent="0" marL="0">
              <a:buNone/>
            </a:pPr>
            <a:r>
              <a:rPr lang="en-US" sz="1600" b="1" dirty="0">
                <a:solidFill>
                  <a:srgbClr val="0A2647"/>
                </a:solidFill>
                <a:latin typeface="Calibri" pitchFamily="34" charset="0"/>
                <a:ea typeface="Calibri" pitchFamily="34" charset="-122"/>
                <a:cs typeface="Calibri" pitchFamily="34" charset="-120"/>
              </a:rPr>
              <a:t>EUV Lithography</a:t>
            </a:r>
            <a:endParaRPr lang="en-US" sz="1600" dirty="0"/>
          </a:p>
        </p:txBody>
      </p:sp>
      <p:sp>
        <p:nvSpPr>
          <p:cNvPr id="11" name="Text 9"/>
          <p:cNvSpPr/>
          <p:nvPr/>
        </p:nvSpPr>
        <p:spPr>
          <a:xfrm>
            <a:off x="5669280" y="3017520"/>
            <a:ext cx="3017520" cy="274320"/>
          </a:xfrm>
          <a:prstGeom prst="rect">
            <a:avLst/>
          </a:prstGeom>
          <a:noFill/>
          <a:ln/>
        </p:spPr>
        <p:txBody>
          <a:bodyPr wrap="square" rtlCol="0" anchor="ctr"/>
          <a:lstStyle/>
          <a:p>
            <a:pPr algn="ctr" indent="0" marL="0">
              <a:buNone/>
            </a:pPr>
            <a:r>
              <a:rPr lang="en-US" sz="1400" dirty="0">
                <a:solidFill>
                  <a:srgbClr val="061325"/>
                </a:solidFill>
                <a:latin typeface="Calibri" pitchFamily="34" charset="0"/>
                <a:ea typeface="Calibri" pitchFamily="34" charset="-122"/>
                <a:cs typeface="Calibri" pitchFamily="34" charset="-120"/>
              </a:rPr>
              <a:t>Market Share</a:t>
            </a:r>
            <a:endParaRPr lang="en-US" sz="1400" dirty="0"/>
          </a:p>
        </p:txBody>
      </p:sp>
      <p:sp>
        <p:nvSpPr>
          <p:cNvPr id="12" name="Text 10"/>
          <p:cNvSpPr/>
          <p:nvPr/>
        </p:nvSpPr>
        <p:spPr>
          <a:xfrm>
            <a:off x="5669280" y="3657600"/>
            <a:ext cx="3017520" cy="731520"/>
          </a:xfrm>
          <a:prstGeom prst="rect">
            <a:avLst/>
          </a:prstGeom>
          <a:noFill/>
          <a:ln/>
        </p:spPr>
        <p:txBody>
          <a:bodyPr wrap="square" rtlCol="0" anchor="ctr"/>
          <a:lstStyle/>
          <a:p>
            <a:pPr algn="ctr" indent="0" marL="0">
              <a:buNone/>
            </a:pPr>
            <a:r>
              <a:rPr lang="en-US" sz="1100" dirty="0">
                <a:solidFill>
                  <a:srgbClr val="061325"/>
                </a:solidFill>
                <a:latin typeface="Calibri" pitchFamily="34" charset="0"/>
                <a:ea typeface="Calibri" pitchFamily="34" charset="-122"/>
                <a:cs typeface="Calibri" pitchFamily="34" charset="-120"/>
              </a:rPr>
              <a:t>Global Monopoly in</a:t>
            </a:r>
            <a:endParaRPr lang="en-US" sz="1100" dirty="0"/>
          </a:p>
          <a:p>
            <a:pPr algn="ctr" indent="0" marL="0">
              <a:buNone/>
            </a:pPr>
            <a:r>
              <a:rPr lang="en-US" sz="1100" dirty="0">
                <a:solidFill>
                  <a:srgbClr val="061325"/>
                </a:solidFill>
                <a:latin typeface="Calibri" pitchFamily="34" charset="0"/>
                <a:ea typeface="Calibri" pitchFamily="34" charset="-122"/>
                <a:cs typeface="Calibri" pitchFamily="34" charset="-120"/>
              </a:rPr>
              <a:t>Advanced Chip Manufacturing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Executive Summary</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Investment Overview</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sp>
        <p:nvSpPr>
          <p:cNvPr id="7" name="Shape 5"/>
          <p:cNvSpPr/>
          <p:nvPr/>
        </p:nvSpPr>
        <p:spPr>
          <a:xfrm>
            <a:off x="365760" y="914400"/>
            <a:ext cx="8412480" cy="91440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8" name="Shape 6"/>
          <p:cNvSpPr/>
          <p:nvPr/>
        </p:nvSpPr>
        <p:spPr>
          <a:xfrm>
            <a:off x="365760" y="914400"/>
            <a:ext cx="54864" cy="914400"/>
          </a:xfrm>
          <a:prstGeom prst="rect">
            <a:avLst/>
          </a:prstGeom>
          <a:solidFill>
            <a:srgbClr val="C9A227"/>
          </a:solidFill>
          <a:ln/>
        </p:spPr>
      </p:sp>
      <p:sp>
        <p:nvSpPr>
          <p:cNvPr id="9" name="Text 7"/>
          <p:cNvSpPr/>
          <p:nvPr/>
        </p:nvSpPr>
        <p:spPr>
          <a:xfrm>
            <a:off x="548640" y="960120"/>
            <a:ext cx="8046720" cy="228600"/>
          </a:xfrm>
          <a:prstGeom prst="rect">
            <a:avLst/>
          </a:prstGeom>
          <a:noFill/>
          <a:ln/>
        </p:spPr>
        <p:txBody>
          <a:bodyPr wrap="square" rtlCol="0" anchor="ctr"/>
          <a:lstStyle/>
          <a:p>
            <a:pPr indent="0" marL="0">
              <a:buNone/>
            </a:pPr>
            <a:r>
              <a:rPr lang="en-US" sz="1200" b="1" dirty="0">
                <a:solidFill>
                  <a:srgbClr val="0A2647"/>
                </a:solidFill>
                <a:latin typeface="Calibri" pitchFamily="34" charset="0"/>
                <a:ea typeface="Calibri" pitchFamily="34" charset="-122"/>
                <a:cs typeface="Calibri" pitchFamily="34" charset="-120"/>
              </a:rPr>
              <a:t>Investment Thesis</a:t>
            </a:r>
            <a:endParaRPr lang="en-US" sz="1200" dirty="0"/>
          </a:p>
        </p:txBody>
      </p:sp>
      <p:sp>
        <p:nvSpPr>
          <p:cNvPr id="10" name="Text 8"/>
          <p:cNvSpPr/>
          <p:nvPr/>
        </p:nvSpPr>
        <p:spPr>
          <a:xfrm>
            <a:off x="548640" y="1207008"/>
            <a:ext cx="8046720" cy="548640"/>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ASML maintains an unassailable monopoly in EUV lithography, the critical enabling technology for sub-7nm semiconductor manufacturing. With AI driving unprecedented demand for advanced chips, ASML is positioned as the essential infrastructure provider. Our Bull Case analysis suggests 8.7% upside.</a:t>
            </a:r>
            <a:endParaRPr lang="en-US" sz="1000" dirty="0"/>
          </a:p>
        </p:txBody>
      </p:sp>
      <p:sp>
        <p:nvSpPr>
          <p:cNvPr id="11" name="Shape 9"/>
          <p:cNvSpPr/>
          <p:nvPr/>
        </p:nvSpPr>
        <p:spPr>
          <a:xfrm>
            <a:off x="365760" y="2011680"/>
            <a:ext cx="2011680" cy="777240"/>
          </a:xfrm>
          <a:prstGeom prst="rect">
            <a:avLst/>
          </a:prstGeom>
          <a:solidFill>
            <a:srgbClr val="0A2647"/>
          </a:solidFill>
          <a:ln/>
        </p:spPr>
      </p:sp>
      <p:sp>
        <p:nvSpPr>
          <p:cNvPr id="12" name="Text 10"/>
          <p:cNvSpPr/>
          <p:nvPr/>
        </p:nvSpPr>
        <p:spPr>
          <a:xfrm>
            <a:off x="365760" y="2057400"/>
            <a:ext cx="2011680" cy="182880"/>
          </a:xfrm>
          <a:prstGeom prst="rect">
            <a:avLst/>
          </a:prstGeom>
          <a:noFill/>
          <a:ln/>
        </p:spPr>
        <p:txBody>
          <a:bodyPr wrap="square" rtlCol="0" anchor="ctr"/>
          <a:lstStyle/>
          <a:p>
            <a:pPr algn="ctr" indent="0" marL="0">
              <a:buNone/>
            </a:pPr>
            <a:r>
              <a:rPr lang="en-US" sz="900" dirty="0">
                <a:solidFill>
                  <a:srgbClr val="C9A227"/>
                </a:solidFill>
                <a:latin typeface="Calibri" pitchFamily="34" charset="0"/>
                <a:ea typeface="Calibri" pitchFamily="34" charset="-122"/>
                <a:cs typeface="Calibri" pitchFamily="34" charset="-120"/>
              </a:rPr>
              <a:t>Current Price</a:t>
            </a:r>
            <a:endParaRPr lang="en-US" sz="900" dirty="0"/>
          </a:p>
        </p:txBody>
      </p:sp>
      <p:sp>
        <p:nvSpPr>
          <p:cNvPr id="13" name="Text 11"/>
          <p:cNvSpPr/>
          <p:nvPr/>
        </p:nvSpPr>
        <p:spPr>
          <a:xfrm>
            <a:off x="365760" y="2212848"/>
            <a:ext cx="2011680" cy="32004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€652</a:t>
            </a:r>
            <a:endParaRPr lang="en-US" sz="2000" dirty="0"/>
          </a:p>
        </p:txBody>
      </p:sp>
      <p:sp>
        <p:nvSpPr>
          <p:cNvPr id="14" name="Text 12"/>
          <p:cNvSpPr/>
          <p:nvPr/>
        </p:nvSpPr>
        <p:spPr>
          <a:xfrm>
            <a:off x="365760" y="2514600"/>
            <a:ext cx="2011680" cy="164592"/>
          </a:xfrm>
          <a:prstGeom prst="rect">
            <a:avLst/>
          </a:prstGeom>
          <a:noFill/>
          <a:ln/>
        </p:spPr>
        <p:txBody>
          <a:bodyPr wrap="square" rtlCol="0" anchor="ctr"/>
          <a:lstStyle/>
          <a:p>
            <a:pPr algn="ctr" indent="0" marL="0">
              <a:buNone/>
            </a:pPr>
            <a:r>
              <a:rPr lang="en-US" sz="800" dirty="0">
                <a:solidFill>
                  <a:srgbClr val="E0E0E0"/>
                </a:solidFill>
                <a:latin typeface="Calibri" pitchFamily="34" charset="0"/>
                <a:ea typeface="Calibri" pitchFamily="34" charset="-122"/>
                <a:cs typeface="Calibri" pitchFamily="34" charset="-120"/>
              </a:rPr>
              <a:t>ASML-NL</a:t>
            </a:r>
            <a:endParaRPr lang="en-US" sz="800" dirty="0"/>
          </a:p>
        </p:txBody>
      </p:sp>
      <p:sp>
        <p:nvSpPr>
          <p:cNvPr id="15" name="Shape 13"/>
          <p:cNvSpPr/>
          <p:nvPr/>
        </p:nvSpPr>
        <p:spPr>
          <a:xfrm>
            <a:off x="2514600" y="2011680"/>
            <a:ext cx="2011680" cy="777240"/>
          </a:xfrm>
          <a:prstGeom prst="rect">
            <a:avLst/>
          </a:prstGeom>
          <a:solidFill>
            <a:srgbClr val="0A2647"/>
          </a:solidFill>
          <a:ln/>
        </p:spPr>
      </p:sp>
      <p:sp>
        <p:nvSpPr>
          <p:cNvPr id="16" name="Text 14"/>
          <p:cNvSpPr/>
          <p:nvPr/>
        </p:nvSpPr>
        <p:spPr>
          <a:xfrm>
            <a:off x="2514600" y="2057400"/>
            <a:ext cx="2011680" cy="182880"/>
          </a:xfrm>
          <a:prstGeom prst="rect">
            <a:avLst/>
          </a:prstGeom>
          <a:noFill/>
          <a:ln/>
        </p:spPr>
        <p:txBody>
          <a:bodyPr wrap="square" rtlCol="0" anchor="ctr"/>
          <a:lstStyle/>
          <a:p>
            <a:pPr algn="ctr" indent="0" marL="0">
              <a:buNone/>
            </a:pPr>
            <a:r>
              <a:rPr lang="en-US" sz="900" dirty="0">
                <a:solidFill>
                  <a:srgbClr val="C9A227"/>
                </a:solidFill>
                <a:latin typeface="Calibri" pitchFamily="34" charset="0"/>
                <a:ea typeface="Calibri" pitchFamily="34" charset="-122"/>
                <a:cs typeface="Calibri" pitchFamily="34" charset="-120"/>
              </a:rPr>
              <a:t>Enterprise Value</a:t>
            </a:r>
            <a:endParaRPr lang="en-US" sz="900" dirty="0"/>
          </a:p>
        </p:txBody>
      </p:sp>
      <p:sp>
        <p:nvSpPr>
          <p:cNvPr id="17" name="Text 15"/>
          <p:cNvSpPr/>
          <p:nvPr/>
        </p:nvSpPr>
        <p:spPr>
          <a:xfrm>
            <a:off x="2514600" y="2212848"/>
            <a:ext cx="2011680" cy="32004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€469.4B</a:t>
            </a:r>
            <a:endParaRPr lang="en-US" sz="2000" dirty="0"/>
          </a:p>
        </p:txBody>
      </p:sp>
      <p:sp>
        <p:nvSpPr>
          <p:cNvPr id="18" name="Text 16"/>
          <p:cNvSpPr/>
          <p:nvPr/>
        </p:nvSpPr>
        <p:spPr>
          <a:xfrm>
            <a:off x="2514600" y="2514600"/>
            <a:ext cx="2011680" cy="164592"/>
          </a:xfrm>
          <a:prstGeom prst="rect">
            <a:avLst/>
          </a:prstGeom>
          <a:noFill/>
          <a:ln/>
        </p:spPr>
        <p:txBody>
          <a:bodyPr wrap="square" rtlCol="0" anchor="ctr"/>
          <a:lstStyle/>
          <a:p>
            <a:pPr algn="ctr" indent="0" marL="0">
              <a:buNone/>
            </a:pPr>
            <a:r>
              <a:rPr lang="en-US" sz="800" dirty="0">
                <a:solidFill>
                  <a:srgbClr val="E0E0E0"/>
                </a:solidFill>
                <a:latin typeface="Calibri" pitchFamily="34" charset="0"/>
                <a:ea typeface="Calibri" pitchFamily="34" charset="-122"/>
                <a:cs typeface="Calibri" pitchFamily="34" charset="-120"/>
              </a:rPr>
              <a:t>Market Cap: €471.8B</a:t>
            </a:r>
            <a:endParaRPr lang="en-US" sz="800" dirty="0"/>
          </a:p>
        </p:txBody>
      </p:sp>
      <p:sp>
        <p:nvSpPr>
          <p:cNvPr id="19" name="Shape 17"/>
          <p:cNvSpPr/>
          <p:nvPr/>
        </p:nvSpPr>
        <p:spPr>
          <a:xfrm>
            <a:off x="4663440" y="2011680"/>
            <a:ext cx="2011680" cy="777240"/>
          </a:xfrm>
          <a:prstGeom prst="rect">
            <a:avLst/>
          </a:prstGeom>
          <a:solidFill>
            <a:srgbClr val="0A2647"/>
          </a:solidFill>
          <a:ln/>
        </p:spPr>
      </p:sp>
      <p:sp>
        <p:nvSpPr>
          <p:cNvPr id="20" name="Text 18"/>
          <p:cNvSpPr/>
          <p:nvPr/>
        </p:nvSpPr>
        <p:spPr>
          <a:xfrm>
            <a:off x="4663440" y="2057400"/>
            <a:ext cx="2011680" cy="182880"/>
          </a:xfrm>
          <a:prstGeom prst="rect">
            <a:avLst/>
          </a:prstGeom>
          <a:noFill/>
          <a:ln/>
        </p:spPr>
        <p:txBody>
          <a:bodyPr wrap="square" rtlCol="0" anchor="ctr"/>
          <a:lstStyle/>
          <a:p>
            <a:pPr algn="ctr" indent="0" marL="0">
              <a:buNone/>
            </a:pPr>
            <a:r>
              <a:rPr lang="en-US" sz="900" dirty="0">
                <a:solidFill>
                  <a:srgbClr val="C9A227"/>
                </a:solidFill>
                <a:latin typeface="Calibri" pitchFamily="34" charset="0"/>
                <a:ea typeface="Calibri" pitchFamily="34" charset="-122"/>
                <a:cs typeface="Calibri" pitchFamily="34" charset="-120"/>
              </a:rPr>
              <a:t>LTM Revenue</a:t>
            </a:r>
            <a:endParaRPr lang="en-US" sz="900" dirty="0"/>
          </a:p>
        </p:txBody>
      </p:sp>
      <p:sp>
        <p:nvSpPr>
          <p:cNvPr id="21" name="Text 19"/>
          <p:cNvSpPr/>
          <p:nvPr/>
        </p:nvSpPr>
        <p:spPr>
          <a:xfrm>
            <a:off x="4663440" y="2212848"/>
            <a:ext cx="2011680" cy="32004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€28.3B</a:t>
            </a:r>
            <a:endParaRPr lang="en-US" sz="2000" dirty="0"/>
          </a:p>
        </p:txBody>
      </p:sp>
      <p:sp>
        <p:nvSpPr>
          <p:cNvPr id="22" name="Text 20"/>
          <p:cNvSpPr/>
          <p:nvPr/>
        </p:nvSpPr>
        <p:spPr>
          <a:xfrm>
            <a:off x="4663440" y="2514600"/>
            <a:ext cx="2011680" cy="164592"/>
          </a:xfrm>
          <a:prstGeom prst="rect">
            <a:avLst/>
          </a:prstGeom>
          <a:noFill/>
          <a:ln/>
        </p:spPr>
        <p:txBody>
          <a:bodyPr wrap="square" rtlCol="0" anchor="ctr"/>
          <a:lstStyle/>
          <a:p>
            <a:pPr algn="ctr" indent="0" marL="0">
              <a:buNone/>
            </a:pPr>
            <a:r>
              <a:rPr lang="en-US" sz="800" dirty="0">
                <a:solidFill>
                  <a:srgbClr val="E0E0E0"/>
                </a:solidFill>
                <a:latin typeface="Calibri" pitchFamily="34" charset="0"/>
                <a:ea typeface="Calibri" pitchFamily="34" charset="-122"/>
                <a:cs typeface="Calibri" pitchFamily="34" charset="-120"/>
              </a:rPr>
              <a:t>EBIT Margin: 31.9%</a:t>
            </a:r>
            <a:endParaRPr lang="en-US" sz="800" dirty="0"/>
          </a:p>
        </p:txBody>
      </p:sp>
      <p:sp>
        <p:nvSpPr>
          <p:cNvPr id="23" name="Shape 21"/>
          <p:cNvSpPr/>
          <p:nvPr/>
        </p:nvSpPr>
        <p:spPr>
          <a:xfrm>
            <a:off x="6812280" y="2011680"/>
            <a:ext cx="2011680" cy="777240"/>
          </a:xfrm>
          <a:prstGeom prst="rect">
            <a:avLst/>
          </a:prstGeom>
          <a:solidFill>
            <a:srgbClr val="0A2647"/>
          </a:solidFill>
          <a:ln/>
        </p:spPr>
      </p:sp>
      <p:sp>
        <p:nvSpPr>
          <p:cNvPr id="24" name="Text 22"/>
          <p:cNvSpPr/>
          <p:nvPr/>
        </p:nvSpPr>
        <p:spPr>
          <a:xfrm>
            <a:off x="6812280" y="2057400"/>
            <a:ext cx="2011680" cy="182880"/>
          </a:xfrm>
          <a:prstGeom prst="rect">
            <a:avLst/>
          </a:prstGeom>
          <a:noFill/>
          <a:ln/>
        </p:spPr>
        <p:txBody>
          <a:bodyPr wrap="square" rtlCol="0" anchor="ctr"/>
          <a:lstStyle/>
          <a:p>
            <a:pPr algn="ctr" indent="0" marL="0">
              <a:buNone/>
            </a:pPr>
            <a:r>
              <a:rPr lang="en-US" sz="900" dirty="0">
                <a:solidFill>
                  <a:srgbClr val="C9A227"/>
                </a:solidFill>
                <a:latin typeface="Calibri" pitchFamily="34" charset="0"/>
                <a:ea typeface="Calibri" pitchFamily="34" charset="-122"/>
                <a:cs typeface="Calibri" pitchFamily="34" charset="-120"/>
              </a:rPr>
              <a:t>WACC</a:t>
            </a:r>
            <a:endParaRPr lang="en-US" sz="900" dirty="0"/>
          </a:p>
        </p:txBody>
      </p:sp>
      <p:sp>
        <p:nvSpPr>
          <p:cNvPr id="25" name="Text 23"/>
          <p:cNvSpPr/>
          <p:nvPr/>
        </p:nvSpPr>
        <p:spPr>
          <a:xfrm>
            <a:off x="6812280" y="2212848"/>
            <a:ext cx="2011680" cy="32004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10.0%</a:t>
            </a:r>
            <a:endParaRPr lang="en-US" sz="2000" dirty="0"/>
          </a:p>
        </p:txBody>
      </p:sp>
      <p:sp>
        <p:nvSpPr>
          <p:cNvPr id="26" name="Text 24"/>
          <p:cNvSpPr/>
          <p:nvPr/>
        </p:nvSpPr>
        <p:spPr>
          <a:xfrm>
            <a:off x="6812280" y="2514600"/>
            <a:ext cx="2011680" cy="164592"/>
          </a:xfrm>
          <a:prstGeom prst="rect">
            <a:avLst/>
          </a:prstGeom>
          <a:noFill/>
          <a:ln/>
        </p:spPr>
        <p:txBody>
          <a:bodyPr wrap="square" rtlCol="0" anchor="ctr"/>
          <a:lstStyle/>
          <a:p>
            <a:pPr algn="ctr" indent="0" marL="0">
              <a:buNone/>
            </a:pPr>
            <a:r>
              <a:rPr lang="en-US" sz="800" dirty="0">
                <a:solidFill>
                  <a:srgbClr val="E0E0E0"/>
                </a:solidFill>
                <a:latin typeface="Calibri" pitchFamily="34" charset="0"/>
                <a:ea typeface="Calibri" pitchFamily="34" charset="-122"/>
                <a:cs typeface="Calibri" pitchFamily="34" charset="-120"/>
              </a:rPr>
              <a:t>Levered Beta: 1.69x</a:t>
            </a:r>
            <a:endParaRPr lang="en-US" sz="800" dirty="0"/>
          </a:p>
        </p:txBody>
      </p:sp>
      <p:sp>
        <p:nvSpPr>
          <p:cNvPr id="27" name="Text 25"/>
          <p:cNvSpPr/>
          <p:nvPr/>
        </p:nvSpPr>
        <p:spPr>
          <a:xfrm>
            <a:off x="365760" y="2926080"/>
            <a:ext cx="3657600" cy="256032"/>
          </a:xfrm>
          <a:prstGeom prst="rect">
            <a:avLst/>
          </a:prstGeom>
          <a:noFill/>
          <a:ln/>
        </p:spPr>
        <p:txBody>
          <a:bodyPr wrap="square" rtlCol="0" anchor="ctr"/>
          <a:lstStyle/>
          <a:p>
            <a:pPr indent="0" marL="0">
              <a:buNone/>
            </a:pPr>
            <a:r>
              <a:rPr lang="en-US" sz="1200" b="1" dirty="0">
                <a:solidFill>
                  <a:srgbClr val="0A2647"/>
                </a:solidFill>
                <a:latin typeface="Calibri" pitchFamily="34" charset="0"/>
                <a:ea typeface="Calibri" pitchFamily="34" charset="-122"/>
                <a:cs typeface="Calibri" pitchFamily="34" charset="-120"/>
              </a:rPr>
              <a:t>Valuation Summary</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3200400"/>
          <a:ext cx="4937760" cy="914400"/>
        </p:xfrm>
        <a:graphic>
          <a:graphicData uri="http://schemas.openxmlformats.org/drawingml/2006/table">
            <a:tbl>
              <a:tblPr/>
              <a:tblGrid>
                <a:gridCol w="1645920"/>
                <a:gridCol w="731520"/>
                <a:gridCol w="731520"/>
                <a:gridCol w="731520"/>
                <a:gridCol w="64008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Methodology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Base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Weight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37744">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DCF — Perpetuity Growth</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€418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€555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€879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DCF — Exit Multiple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€546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€683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€841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Comps — EV/EBITDA</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€862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€961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€1,059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Comps — EV/Revenue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€908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€1,010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€1,112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29" name="Shape 26"/>
          <p:cNvSpPr/>
          <p:nvPr/>
        </p:nvSpPr>
        <p:spPr>
          <a:xfrm>
            <a:off x="5486400" y="2926080"/>
            <a:ext cx="3291840" cy="178308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30" name="Shape 27"/>
          <p:cNvSpPr/>
          <p:nvPr/>
        </p:nvSpPr>
        <p:spPr>
          <a:xfrm>
            <a:off x="5486400" y="2926080"/>
            <a:ext cx="54864" cy="1783080"/>
          </a:xfrm>
          <a:prstGeom prst="rect">
            <a:avLst/>
          </a:prstGeom>
          <a:solidFill>
            <a:srgbClr val="1B5E20"/>
          </a:solidFill>
          <a:ln/>
        </p:spPr>
      </p:sp>
      <p:sp>
        <p:nvSpPr>
          <p:cNvPr id="31" name="Text 28"/>
          <p:cNvSpPr/>
          <p:nvPr/>
        </p:nvSpPr>
        <p:spPr>
          <a:xfrm>
            <a:off x="5669280" y="2999232"/>
            <a:ext cx="292608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Valuation Conclusion</a:t>
            </a:r>
            <a:endParaRPr lang="en-US" sz="1100" dirty="0"/>
          </a:p>
        </p:txBody>
      </p:sp>
      <p:sp>
        <p:nvSpPr>
          <p:cNvPr id="32" name="Text 29"/>
          <p:cNvSpPr/>
          <p:nvPr/>
        </p:nvSpPr>
        <p:spPr>
          <a:xfrm>
            <a:off x="5669280" y="3246120"/>
            <a:ext cx="2926080" cy="164592"/>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Weighted Implied Price</a:t>
            </a:r>
            <a:endParaRPr lang="en-US" sz="900" dirty="0"/>
          </a:p>
        </p:txBody>
      </p:sp>
      <p:sp>
        <p:nvSpPr>
          <p:cNvPr id="33" name="Text 30"/>
          <p:cNvSpPr/>
          <p:nvPr/>
        </p:nvSpPr>
        <p:spPr>
          <a:xfrm>
            <a:off x="5669280" y="3383280"/>
            <a:ext cx="2926080" cy="457200"/>
          </a:xfrm>
          <a:prstGeom prst="rect">
            <a:avLst/>
          </a:prstGeom>
          <a:noFill/>
          <a:ln/>
        </p:spPr>
        <p:txBody>
          <a:bodyPr wrap="square" rtlCol="0" anchor="ctr"/>
          <a:lstStyle/>
          <a:p>
            <a:pPr indent="0" marL="0">
              <a:buNone/>
            </a:pPr>
            <a:r>
              <a:rPr lang="en-US" sz="3600" b="1" dirty="0">
                <a:solidFill>
                  <a:srgbClr val="1B5E20"/>
                </a:solidFill>
                <a:latin typeface="Georgia" pitchFamily="34" charset="0"/>
                <a:ea typeface="Georgia" pitchFamily="34" charset="-122"/>
                <a:cs typeface="Georgia" pitchFamily="34" charset="-120"/>
              </a:rPr>
              <a:t>€709</a:t>
            </a:r>
            <a:endParaRPr lang="en-US" sz="3600" dirty="0"/>
          </a:p>
        </p:txBody>
      </p:sp>
      <p:sp>
        <p:nvSpPr>
          <p:cNvPr id="34" name="Text 31"/>
          <p:cNvSpPr/>
          <p:nvPr/>
        </p:nvSpPr>
        <p:spPr>
          <a:xfrm>
            <a:off x="5669280" y="3840480"/>
            <a:ext cx="2926080" cy="182880"/>
          </a:xfrm>
          <a:prstGeom prst="rect">
            <a:avLst/>
          </a:prstGeom>
          <a:noFill/>
          <a:ln/>
        </p:spPr>
        <p:txBody>
          <a:bodyPr wrap="square" rtlCol="0" anchor="ctr"/>
          <a:lstStyle/>
          <a:p>
            <a:pPr indent="0" marL="0">
              <a:buNone/>
            </a:pPr>
            <a:r>
              <a:rPr lang="en-US" sz="1000" dirty="0">
                <a:solidFill>
                  <a:srgbClr val="4A4A4A"/>
                </a:solidFill>
                <a:latin typeface="Calibri" pitchFamily="34" charset="0"/>
                <a:ea typeface="Calibri" pitchFamily="34" charset="-122"/>
                <a:cs typeface="Calibri" pitchFamily="34" charset="-120"/>
              </a:rPr>
              <a:t>vs. Current: €652</a:t>
            </a:r>
            <a:endParaRPr lang="en-US" sz="1000" dirty="0"/>
          </a:p>
        </p:txBody>
      </p:sp>
      <p:sp>
        <p:nvSpPr>
          <p:cNvPr id="35" name="Text 32"/>
          <p:cNvSpPr/>
          <p:nvPr/>
        </p:nvSpPr>
        <p:spPr>
          <a:xfrm>
            <a:off x="5669280" y="4069080"/>
            <a:ext cx="2926080" cy="320040"/>
          </a:xfrm>
          <a:prstGeom prst="rect">
            <a:avLst/>
          </a:prstGeom>
          <a:noFill/>
          <a:ln/>
        </p:spPr>
        <p:txBody>
          <a:bodyPr wrap="square" rtlCol="0" anchor="ctr"/>
          <a:lstStyle/>
          <a:p>
            <a:pPr indent="0" marL="0">
              <a:buNone/>
            </a:pPr>
            <a:r>
              <a:rPr lang="en-US" sz="2000" b="1" dirty="0">
                <a:solidFill>
                  <a:srgbClr val="1B5E20"/>
                </a:solidFill>
                <a:latin typeface="Calibri" pitchFamily="34" charset="0"/>
                <a:ea typeface="Calibri" pitchFamily="34" charset="-122"/>
                <a:cs typeface="Calibri" pitchFamily="34" charset="-120"/>
              </a:rPr>
              <a:t>+8.7% Upside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Company Overview</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ASML Holding N.V.</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sp>
        <p:nvSpPr>
          <p:cNvPr id="7" name="Text 5"/>
          <p:cNvSpPr/>
          <p:nvPr/>
        </p:nvSpPr>
        <p:spPr>
          <a:xfrm>
            <a:off x="365760" y="914400"/>
            <a:ext cx="4114800" cy="256032"/>
          </a:xfrm>
          <a:prstGeom prst="rect">
            <a:avLst/>
          </a:prstGeom>
          <a:noFill/>
          <a:ln/>
        </p:spPr>
        <p:txBody>
          <a:bodyPr wrap="square" rtlCol="0" anchor="ctr"/>
          <a:lstStyle/>
          <a:p>
            <a:pPr indent="0" marL="0">
              <a:buNone/>
            </a:pPr>
            <a:r>
              <a:rPr lang="en-US" sz="1200" b="1" dirty="0">
                <a:solidFill>
                  <a:srgbClr val="0A2647"/>
                </a:solidFill>
                <a:latin typeface="Calibri" pitchFamily="34" charset="0"/>
                <a:ea typeface="Calibri" pitchFamily="34" charset="-122"/>
                <a:cs typeface="Calibri" pitchFamily="34" charset="-120"/>
              </a:rPr>
              <a:t>Business Description</a:t>
            </a:r>
            <a:endParaRPr lang="en-US" sz="1200" dirty="0"/>
          </a:p>
        </p:txBody>
      </p:sp>
      <p:sp>
        <p:nvSpPr>
          <p:cNvPr id="8" name="Text 6"/>
          <p:cNvSpPr/>
          <p:nvPr/>
        </p:nvSpPr>
        <p:spPr>
          <a:xfrm>
            <a:off x="365760" y="1188720"/>
            <a:ext cx="4023360" cy="1645920"/>
          </a:xfrm>
          <a:prstGeom prst="rect">
            <a:avLst/>
          </a:prstGeom>
          <a:noFill/>
          <a:ln/>
        </p:spPr>
        <p:txBody>
          <a:bodyPr wrap="square" rtlCol="0" anchor="t"/>
          <a:lstStyle/>
          <a:p>
            <a:pPr indent="0" marL="0">
              <a:buNone/>
            </a:pPr>
            <a:r>
              <a:rPr lang="en-US" sz="1000" dirty="0">
                <a:solidFill>
                  <a:srgbClr val="4A4A4A"/>
                </a:solidFill>
                <a:latin typeface="Calibri" pitchFamily="34" charset="0"/>
                <a:ea typeface="Calibri" pitchFamily="34" charset="-122"/>
                <a:cs typeface="Calibri" pitchFamily="34" charset="-120"/>
              </a:rPr>
              <a:t>ASML Holding N.V. is a Dutch multinational and the world's largest supplier of photolithography systems for the semiconductor industry. The company provides chipmakers with advanced lithography systems, related software, and services enabling mass production of integrated circuit patterns on silicon.</a:t>
            </a:r>
            <a:endParaRPr lang="en-US" sz="1000" dirty="0"/>
          </a:p>
          <a:p>
            <a:pPr indent="0" marL="0">
              <a:buNone/>
            </a:pPr>
            <a:endParaRPr lang="en-US" sz="1000" dirty="0"/>
          </a:p>
          <a:p>
            <a:pPr indent="0" marL="0">
              <a:buNone/>
            </a:pPr>
            <a:r>
              <a:rPr lang="en-US" sz="1000" dirty="0">
                <a:solidFill>
                  <a:srgbClr val="4A4A4A"/>
                </a:solidFill>
                <a:latin typeface="Calibri" pitchFamily="34" charset="0"/>
                <a:ea typeface="Calibri" pitchFamily="34" charset="-122"/>
                <a:cs typeface="Calibri" pitchFamily="34" charset="-120"/>
              </a:rPr>
              <a:t>ASML holds a complete monopoly in EUV (Extreme Ultraviolet) lithography—the only technology capable of manufacturing chips below 7nm.</a:t>
            </a:r>
            <a:endParaRPr lang="en-US" sz="1000" dirty="0"/>
          </a:p>
        </p:txBody>
      </p:sp>
      <p:sp>
        <p:nvSpPr>
          <p:cNvPr id="9" name="Text 7"/>
          <p:cNvSpPr/>
          <p:nvPr/>
        </p:nvSpPr>
        <p:spPr>
          <a:xfrm>
            <a:off x="365760" y="2926080"/>
            <a:ext cx="4114800" cy="256032"/>
          </a:xfrm>
          <a:prstGeom prst="rect">
            <a:avLst/>
          </a:prstGeom>
          <a:noFill/>
          <a:ln/>
        </p:spPr>
        <p:txBody>
          <a:bodyPr wrap="square" rtlCol="0" anchor="ctr"/>
          <a:lstStyle/>
          <a:p>
            <a:pPr indent="0" marL="0">
              <a:buNone/>
            </a:pPr>
            <a:r>
              <a:rPr lang="en-US" sz="1200" b="1" dirty="0">
                <a:solidFill>
                  <a:srgbClr val="0A2647"/>
                </a:solidFill>
                <a:latin typeface="Calibri" pitchFamily="34" charset="0"/>
                <a:ea typeface="Calibri" pitchFamily="34" charset="-122"/>
                <a:cs typeface="Calibri" pitchFamily="34" charset="-120"/>
              </a:rPr>
              <a:t>Key Investment Highlights</a:t>
            </a:r>
            <a:endParaRPr lang="en-US" sz="1200" dirty="0"/>
          </a:p>
        </p:txBody>
      </p:sp>
      <p:sp>
        <p:nvSpPr>
          <p:cNvPr id="10" name="Shape 8"/>
          <p:cNvSpPr/>
          <p:nvPr/>
        </p:nvSpPr>
        <p:spPr>
          <a:xfrm>
            <a:off x="457200" y="3246120"/>
            <a:ext cx="109728" cy="109728"/>
          </a:xfrm>
          <a:prstGeom prst="ellipse">
            <a:avLst/>
          </a:prstGeom>
          <a:solidFill>
            <a:srgbClr val="C9A227"/>
          </a:solidFill>
          <a:ln/>
        </p:spPr>
      </p:sp>
      <p:sp>
        <p:nvSpPr>
          <p:cNvPr id="11" name="Text 9"/>
          <p:cNvSpPr/>
          <p:nvPr/>
        </p:nvSpPr>
        <p:spPr>
          <a:xfrm>
            <a:off x="685800" y="3200400"/>
            <a:ext cx="3749040" cy="292608"/>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100% market share in EUV lithography systems</a:t>
            </a:r>
            <a:endParaRPr lang="en-US" sz="900" dirty="0"/>
          </a:p>
        </p:txBody>
      </p:sp>
      <p:sp>
        <p:nvSpPr>
          <p:cNvPr id="12" name="Shape 10"/>
          <p:cNvSpPr/>
          <p:nvPr/>
        </p:nvSpPr>
        <p:spPr>
          <a:xfrm>
            <a:off x="457200" y="3538728"/>
            <a:ext cx="109728" cy="109728"/>
          </a:xfrm>
          <a:prstGeom prst="ellipse">
            <a:avLst/>
          </a:prstGeom>
          <a:solidFill>
            <a:srgbClr val="C9A227"/>
          </a:solidFill>
          <a:ln/>
        </p:spPr>
      </p:sp>
      <p:sp>
        <p:nvSpPr>
          <p:cNvPr id="13" name="Text 11"/>
          <p:cNvSpPr/>
          <p:nvPr/>
        </p:nvSpPr>
        <p:spPr>
          <a:xfrm>
            <a:off x="685800" y="3493008"/>
            <a:ext cx="3749040" cy="292608"/>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Essential infrastructure for AI chip manufacturing</a:t>
            </a:r>
            <a:endParaRPr lang="en-US" sz="900" dirty="0"/>
          </a:p>
        </p:txBody>
      </p:sp>
      <p:sp>
        <p:nvSpPr>
          <p:cNvPr id="14" name="Shape 12"/>
          <p:cNvSpPr/>
          <p:nvPr/>
        </p:nvSpPr>
        <p:spPr>
          <a:xfrm>
            <a:off x="457200" y="3831336"/>
            <a:ext cx="109728" cy="109728"/>
          </a:xfrm>
          <a:prstGeom prst="ellipse">
            <a:avLst/>
          </a:prstGeom>
          <a:solidFill>
            <a:srgbClr val="C9A227"/>
          </a:solidFill>
          <a:ln/>
        </p:spPr>
      </p:sp>
      <p:sp>
        <p:nvSpPr>
          <p:cNvPr id="15" name="Text 13"/>
          <p:cNvSpPr/>
          <p:nvPr/>
        </p:nvSpPr>
        <p:spPr>
          <a:xfrm>
            <a:off x="685800" y="3785616"/>
            <a:ext cx="3749040" cy="292608"/>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€7.6B net income in 2024, 51.3% gross margin</a:t>
            </a:r>
            <a:endParaRPr lang="en-US" sz="900" dirty="0"/>
          </a:p>
        </p:txBody>
      </p:sp>
      <p:sp>
        <p:nvSpPr>
          <p:cNvPr id="16" name="Shape 14"/>
          <p:cNvSpPr/>
          <p:nvPr/>
        </p:nvSpPr>
        <p:spPr>
          <a:xfrm>
            <a:off x="457200" y="4123944"/>
            <a:ext cx="109728" cy="109728"/>
          </a:xfrm>
          <a:prstGeom prst="ellipse">
            <a:avLst/>
          </a:prstGeom>
          <a:solidFill>
            <a:srgbClr val="C9A227"/>
          </a:solidFill>
          <a:ln/>
        </p:spPr>
      </p:sp>
      <p:sp>
        <p:nvSpPr>
          <p:cNvPr id="17" name="Text 15"/>
          <p:cNvSpPr/>
          <p:nvPr/>
        </p:nvSpPr>
        <p:spPr>
          <a:xfrm>
            <a:off x="685800" y="4078224"/>
            <a:ext cx="3749040" cy="292608"/>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5,150+ global suppliers creating deep moat</a:t>
            </a:r>
            <a:endParaRPr lang="en-US" sz="900" dirty="0"/>
          </a:p>
        </p:txBody>
      </p:sp>
      <p:sp>
        <p:nvSpPr>
          <p:cNvPr id="18" name="Shape 16"/>
          <p:cNvSpPr/>
          <p:nvPr/>
        </p:nvSpPr>
        <p:spPr>
          <a:xfrm>
            <a:off x="457200" y="4416552"/>
            <a:ext cx="109728" cy="109728"/>
          </a:xfrm>
          <a:prstGeom prst="ellipse">
            <a:avLst/>
          </a:prstGeom>
          <a:solidFill>
            <a:srgbClr val="C9A227"/>
          </a:solidFill>
          <a:ln/>
        </p:spPr>
      </p:sp>
      <p:sp>
        <p:nvSpPr>
          <p:cNvPr id="19" name="Text 17"/>
          <p:cNvSpPr/>
          <p:nvPr/>
        </p:nvSpPr>
        <p:spPr>
          <a:xfrm>
            <a:off x="685800" y="4370832"/>
            <a:ext cx="3749040" cy="292608"/>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2030E revenue opportunity: €44-60 billion</a:t>
            </a:r>
            <a:endParaRPr lang="en-US" sz="900" dirty="0"/>
          </a:p>
        </p:txBody>
      </p:sp>
      <p:sp>
        <p:nvSpPr>
          <p:cNvPr id="20" name="Shape 18"/>
          <p:cNvSpPr/>
          <p:nvPr/>
        </p:nvSpPr>
        <p:spPr>
          <a:xfrm>
            <a:off x="4663440" y="914400"/>
            <a:ext cx="4114800" cy="210312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21" name="Text 19"/>
          <p:cNvSpPr/>
          <p:nvPr/>
        </p:nvSpPr>
        <p:spPr>
          <a:xfrm>
            <a:off x="4846320" y="1005840"/>
            <a:ext cx="3749040" cy="256032"/>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Lithography Market Share (2024)</a:t>
            </a:r>
            <a:endParaRPr lang="en-US" sz="1100" dirty="0"/>
          </a:p>
        </p:txBody>
      </p:sp>
      <p:sp>
        <p:nvSpPr>
          <p:cNvPr id="22" name="Shape 20"/>
          <p:cNvSpPr/>
          <p:nvPr/>
        </p:nvSpPr>
        <p:spPr>
          <a:xfrm>
            <a:off x="5029200" y="1371600"/>
            <a:ext cx="3474720" cy="457200"/>
          </a:xfrm>
          <a:prstGeom prst="rect">
            <a:avLst/>
          </a:prstGeom>
          <a:solidFill>
            <a:srgbClr val="E0E0E0"/>
          </a:solidFill>
          <a:ln/>
        </p:spPr>
      </p:sp>
      <p:sp>
        <p:nvSpPr>
          <p:cNvPr id="23" name="Shape 21"/>
          <p:cNvSpPr/>
          <p:nvPr/>
        </p:nvSpPr>
        <p:spPr>
          <a:xfrm>
            <a:off x="5029200" y="1371600"/>
            <a:ext cx="3264408" cy="457200"/>
          </a:xfrm>
          <a:prstGeom prst="rect">
            <a:avLst/>
          </a:prstGeom>
          <a:solidFill>
            <a:srgbClr val="0A2647"/>
          </a:solidFill>
          <a:ln/>
        </p:spPr>
      </p:sp>
      <p:sp>
        <p:nvSpPr>
          <p:cNvPr id="24" name="Text 22"/>
          <p:cNvSpPr/>
          <p:nvPr/>
        </p:nvSpPr>
        <p:spPr>
          <a:xfrm>
            <a:off x="5029200" y="1371600"/>
            <a:ext cx="326440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ASML: 94%</a:t>
            </a:r>
            <a:endParaRPr lang="en-US" sz="1200" dirty="0"/>
          </a:p>
        </p:txBody>
      </p:sp>
      <p:sp>
        <p:nvSpPr>
          <p:cNvPr id="25" name="Text 23"/>
          <p:cNvSpPr/>
          <p:nvPr/>
        </p:nvSpPr>
        <p:spPr>
          <a:xfrm>
            <a:off x="5029200" y="1874520"/>
            <a:ext cx="3474720" cy="182880"/>
          </a:xfrm>
          <a:prstGeom prst="rect">
            <a:avLst/>
          </a:prstGeom>
          <a:noFill/>
          <a:ln/>
        </p:spPr>
        <p:txBody>
          <a:bodyPr wrap="square" rtlCol="0" anchor="ctr"/>
          <a:lstStyle/>
          <a:p>
            <a:pPr algn="r" indent="0" marL="0">
              <a:buNone/>
            </a:pPr>
            <a:r>
              <a:rPr lang="en-US" sz="900" dirty="0">
                <a:solidFill>
                  <a:srgbClr val="4A4A4A"/>
                </a:solidFill>
                <a:latin typeface="Calibri" pitchFamily="34" charset="0"/>
                <a:ea typeface="Calibri" pitchFamily="34" charset="-122"/>
                <a:cs typeface="Calibri" pitchFamily="34" charset="-120"/>
              </a:rPr>
              <a:t>Canon/Nikon: 6%</a:t>
            </a:r>
            <a:endParaRPr lang="en-US" sz="900" dirty="0"/>
          </a:p>
        </p:txBody>
      </p:sp>
      <p:sp>
        <p:nvSpPr>
          <p:cNvPr id="26" name="Text 24"/>
          <p:cNvSpPr/>
          <p:nvPr/>
        </p:nvSpPr>
        <p:spPr>
          <a:xfrm>
            <a:off x="4846320" y="2194560"/>
            <a:ext cx="3749040" cy="274320"/>
          </a:xfrm>
          <a:prstGeom prst="rect">
            <a:avLst/>
          </a:prstGeom>
          <a:noFill/>
          <a:ln/>
        </p:spPr>
        <p:txBody>
          <a:bodyPr wrap="square"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EUV Market Share: 100%</a:t>
            </a:r>
            <a:endParaRPr lang="en-US" sz="1400" dirty="0"/>
          </a:p>
        </p:txBody>
      </p:sp>
      <p:sp>
        <p:nvSpPr>
          <p:cNvPr id="27" name="Text 25"/>
          <p:cNvSpPr/>
          <p:nvPr/>
        </p:nvSpPr>
        <p:spPr>
          <a:xfrm>
            <a:off x="4846320" y="2468880"/>
            <a:ext cx="3749040" cy="365760"/>
          </a:xfrm>
          <a:prstGeom prst="rect">
            <a:avLst/>
          </a:prstGeom>
          <a:noFill/>
          <a:ln/>
        </p:spPr>
        <p:txBody>
          <a:bodyPr wrap="square" rtlCol="0" anchor="ctr"/>
          <a:lstStyle/>
          <a:p>
            <a:pPr indent="0" marL="0">
              <a:buNone/>
            </a:pPr>
            <a:r>
              <a:rPr lang="en-US" sz="900" i="1" dirty="0">
                <a:solidFill>
                  <a:srgbClr val="4A4A4A"/>
                </a:solidFill>
                <a:latin typeface="Calibri" pitchFamily="34" charset="0"/>
                <a:ea typeface="Calibri" pitchFamily="34" charset="-122"/>
                <a:cs typeface="Calibri" pitchFamily="34" charset="-120"/>
              </a:rPr>
              <a:t>No competitor has developed commercially viable EUV technology</a:t>
            </a:r>
            <a:endParaRPr lang="en-US" sz="900" dirty="0"/>
          </a:p>
        </p:txBody>
      </p:sp>
      <p:sp>
        <p:nvSpPr>
          <p:cNvPr id="28" name="Shape 26"/>
          <p:cNvSpPr/>
          <p:nvPr/>
        </p:nvSpPr>
        <p:spPr>
          <a:xfrm>
            <a:off x="4663440" y="3108960"/>
            <a:ext cx="4114800" cy="1691640"/>
          </a:xfrm>
          <a:prstGeom prst="rect">
            <a:avLst/>
          </a:prstGeom>
          <a:solidFill>
            <a:srgbClr val="0A2647"/>
          </a:solidFill>
          <a:ln/>
        </p:spPr>
      </p:sp>
      <p:sp>
        <p:nvSpPr>
          <p:cNvPr id="29" name="Text 27"/>
          <p:cNvSpPr/>
          <p:nvPr/>
        </p:nvSpPr>
        <p:spPr>
          <a:xfrm>
            <a:off x="4846320" y="3200400"/>
            <a:ext cx="3749040" cy="256032"/>
          </a:xfrm>
          <a:prstGeom prst="rect">
            <a:avLst/>
          </a:prstGeom>
          <a:noFill/>
          <a:ln/>
        </p:spPr>
        <p:txBody>
          <a:bodyPr wrap="square" rtlCol="0" anchor="ctr"/>
          <a:lstStyle/>
          <a:p>
            <a:pPr indent="0" marL="0">
              <a:buNone/>
            </a:pPr>
            <a:r>
              <a:rPr lang="en-US" sz="1100" b="1" dirty="0">
                <a:solidFill>
                  <a:srgbClr val="C9A227"/>
                </a:solidFill>
                <a:latin typeface="Calibri" pitchFamily="34" charset="0"/>
                <a:ea typeface="Calibri" pitchFamily="34" charset="-122"/>
                <a:cs typeface="Calibri" pitchFamily="34" charset="-120"/>
              </a:rPr>
              <a:t>Key Customers</a:t>
            </a:r>
            <a:endParaRPr lang="en-US" sz="1100" dirty="0"/>
          </a:p>
        </p:txBody>
      </p:sp>
      <p:sp>
        <p:nvSpPr>
          <p:cNvPr id="30" name="Text 28"/>
          <p:cNvSpPr/>
          <p:nvPr/>
        </p:nvSpPr>
        <p:spPr>
          <a:xfrm>
            <a:off x="4846320" y="3520440"/>
            <a:ext cx="18288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TSMC</a:t>
            </a:r>
            <a:endParaRPr lang="en-US" sz="1100" dirty="0"/>
          </a:p>
        </p:txBody>
      </p:sp>
      <p:sp>
        <p:nvSpPr>
          <p:cNvPr id="31" name="Text 29"/>
          <p:cNvSpPr/>
          <p:nvPr/>
        </p:nvSpPr>
        <p:spPr>
          <a:xfrm>
            <a:off x="4846320" y="3730752"/>
            <a:ext cx="1828800" cy="182880"/>
          </a:xfrm>
          <a:prstGeom prst="rect">
            <a:avLst/>
          </a:prstGeom>
          <a:noFill/>
          <a:ln/>
        </p:spPr>
        <p:txBody>
          <a:bodyPr wrap="square" rtlCol="0" anchor="ctr"/>
          <a:lstStyle/>
          <a:p>
            <a:pPr indent="0" marL="0">
              <a:buNone/>
            </a:pPr>
            <a:r>
              <a:rPr lang="en-US" sz="800" dirty="0">
                <a:solidFill>
                  <a:srgbClr val="E0E0E0"/>
                </a:solidFill>
                <a:latin typeface="Calibri" pitchFamily="34" charset="0"/>
                <a:ea typeface="Calibri" pitchFamily="34" charset="-122"/>
                <a:cs typeface="Calibri" pitchFamily="34" charset="-120"/>
              </a:rPr>
              <a:t>World's largest foundry</a:t>
            </a:r>
            <a:endParaRPr lang="en-US" sz="800" dirty="0"/>
          </a:p>
        </p:txBody>
      </p:sp>
      <p:sp>
        <p:nvSpPr>
          <p:cNvPr id="32" name="Text 30"/>
          <p:cNvSpPr/>
          <p:nvPr/>
        </p:nvSpPr>
        <p:spPr>
          <a:xfrm>
            <a:off x="6766560" y="3520440"/>
            <a:ext cx="18288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Samsung</a:t>
            </a:r>
            <a:endParaRPr lang="en-US" sz="1100" dirty="0"/>
          </a:p>
        </p:txBody>
      </p:sp>
      <p:sp>
        <p:nvSpPr>
          <p:cNvPr id="33" name="Text 31"/>
          <p:cNvSpPr/>
          <p:nvPr/>
        </p:nvSpPr>
        <p:spPr>
          <a:xfrm>
            <a:off x="6766560" y="3730752"/>
            <a:ext cx="1828800" cy="182880"/>
          </a:xfrm>
          <a:prstGeom prst="rect">
            <a:avLst/>
          </a:prstGeom>
          <a:noFill/>
          <a:ln/>
        </p:spPr>
        <p:txBody>
          <a:bodyPr wrap="square" rtlCol="0" anchor="ctr"/>
          <a:lstStyle/>
          <a:p>
            <a:pPr indent="0" marL="0">
              <a:buNone/>
            </a:pPr>
            <a:r>
              <a:rPr lang="en-US" sz="800" dirty="0">
                <a:solidFill>
                  <a:srgbClr val="E0E0E0"/>
                </a:solidFill>
                <a:latin typeface="Calibri" pitchFamily="34" charset="0"/>
                <a:ea typeface="Calibri" pitchFamily="34" charset="-122"/>
                <a:cs typeface="Calibri" pitchFamily="34" charset="-120"/>
              </a:rPr>
              <a:t>Memory &amp; Logic leader</a:t>
            </a:r>
            <a:endParaRPr lang="en-US" sz="800" dirty="0"/>
          </a:p>
        </p:txBody>
      </p:sp>
      <p:sp>
        <p:nvSpPr>
          <p:cNvPr id="34" name="Text 32"/>
          <p:cNvSpPr/>
          <p:nvPr/>
        </p:nvSpPr>
        <p:spPr>
          <a:xfrm>
            <a:off x="4846320" y="4023360"/>
            <a:ext cx="18288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Intel</a:t>
            </a:r>
            <a:endParaRPr lang="en-US" sz="1100" dirty="0"/>
          </a:p>
        </p:txBody>
      </p:sp>
      <p:sp>
        <p:nvSpPr>
          <p:cNvPr id="35" name="Text 33"/>
          <p:cNvSpPr/>
          <p:nvPr/>
        </p:nvSpPr>
        <p:spPr>
          <a:xfrm>
            <a:off x="4846320" y="4233672"/>
            <a:ext cx="1828800" cy="182880"/>
          </a:xfrm>
          <a:prstGeom prst="rect">
            <a:avLst/>
          </a:prstGeom>
          <a:noFill/>
          <a:ln/>
        </p:spPr>
        <p:txBody>
          <a:bodyPr wrap="square" rtlCol="0" anchor="ctr"/>
          <a:lstStyle/>
          <a:p>
            <a:pPr indent="0" marL="0">
              <a:buNone/>
            </a:pPr>
            <a:r>
              <a:rPr lang="en-US" sz="800" dirty="0">
                <a:solidFill>
                  <a:srgbClr val="E0E0E0"/>
                </a:solidFill>
                <a:latin typeface="Calibri" pitchFamily="34" charset="0"/>
                <a:ea typeface="Calibri" pitchFamily="34" charset="-122"/>
                <a:cs typeface="Calibri" pitchFamily="34" charset="-120"/>
              </a:rPr>
              <a:t>IDM transformation</a:t>
            </a:r>
            <a:endParaRPr lang="en-US" sz="800" dirty="0"/>
          </a:p>
        </p:txBody>
      </p:sp>
      <p:sp>
        <p:nvSpPr>
          <p:cNvPr id="36" name="Text 34"/>
          <p:cNvSpPr/>
          <p:nvPr/>
        </p:nvSpPr>
        <p:spPr>
          <a:xfrm>
            <a:off x="6766560" y="4023360"/>
            <a:ext cx="18288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SK Hynix</a:t>
            </a:r>
            <a:endParaRPr lang="en-US" sz="1100" dirty="0"/>
          </a:p>
        </p:txBody>
      </p:sp>
      <p:sp>
        <p:nvSpPr>
          <p:cNvPr id="37" name="Text 35"/>
          <p:cNvSpPr/>
          <p:nvPr/>
        </p:nvSpPr>
        <p:spPr>
          <a:xfrm>
            <a:off x="6766560" y="4233672"/>
            <a:ext cx="1828800" cy="182880"/>
          </a:xfrm>
          <a:prstGeom prst="rect">
            <a:avLst/>
          </a:prstGeom>
          <a:noFill/>
          <a:ln/>
        </p:spPr>
        <p:txBody>
          <a:bodyPr wrap="square" rtlCol="0" anchor="ctr"/>
          <a:lstStyle/>
          <a:p>
            <a:pPr indent="0" marL="0">
              <a:buNone/>
            </a:pPr>
            <a:r>
              <a:rPr lang="en-US" sz="800" dirty="0">
                <a:solidFill>
                  <a:srgbClr val="E0E0E0"/>
                </a:solidFill>
                <a:latin typeface="Calibri" pitchFamily="34" charset="0"/>
                <a:ea typeface="Calibri" pitchFamily="34" charset="-122"/>
                <a:cs typeface="Calibri" pitchFamily="34" charset="-120"/>
              </a:rPr>
              <a:t>HBM for AI</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Historical &amp; Projected Financials</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Bull Case Scenario  |  All figures in €mm</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1188720"/>
                <a:gridCol w="822960"/>
                <a:gridCol w="822960"/>
                <a:gridCol w="822960"/>
                <a:gridCol w="868680"/>
                <a:gridCol w="868680"/>
                <a:gridCol w="868680"/>
                <a:gridCol w="868680"/>
                <a:gridCol w="868680"/>
              </a:tblGrid>
              <a:tr h="274320">
                <a:tc>
                  <a:txBody>
                    <a:bodyPr/>
                    <a:lstStyle/>
                    <a:p>
                      <a:pPr indent="0" marL="0">
                        <a:buNone/>
                      </a:pP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2022A</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2023A</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2024A</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b="1" dirty="0">
                          <a:solidFill>
                            <a:srgbClr val="0A2647"/>
                          </a:solidFill>
                          <a:latin typeface="Calibri" pitchFamily="34" charset="0"/>
                          <a:ea typeface="Calibri" pitchFamily="34" charset="-122"/>
                          <a:cs typeface="Calibri" pitchFamily="34" charset="-120"/>
                        </a:rPr>
                        <a:t>2025E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b="1" dirty="0">
                          <a:solidFill>
                            <a:srgbClr val="0A2647"/>
                          </a:solidFill>
                          <a:latin typeface="Calibri" pitchFamily="34" charset="0"/>
                          <a:ea typeface="Calibri" pitchFamily="34" charset="-122"/>
                          <a:cs typeface="Calibri" pitchFamily="34" charset="-120"/>
                        </a:rPr>
                        <a:t>2026E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b="1" dirty="0">
                          <a:solidFill>
                            <a:srgbClr val="0A2647"/>
                          </a:solidFill>
                          <a:latin typeface="Calibri" pitchFamily="34" charset="0"/>
                          <a:ea typeface="Calibri" pitchFamily="34" charset="-122"/>
                          <a:cs typeface="Calibri" pitchFamily="34" charset="-120"/>
                        </a:rPr>
                        <a:t>2027E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b="1" dirty="0">
                          <a:solidFill>
                            <a:srgbClr val="0A2647"/>
                          </a:solidFill>
                          <a:latin typeface="Calibri" pitchFamily="34" charset="0"/>
                          <a:ea typeface="Calibri" pitchFamily="34" charset="-122"/>
                          <a:cs typeface="Calibri" pitchFamily="34" charset="-120"/>
                        </a:rPr>
                        <a:t>2028E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b="1" dirty="0">
                          <a:solidFill>
                            <a:srgbClr val="0A2647"/>
                          </a:solidFill>
                          <a:latin typeface="Calibri" pitchFamily="34" charset="0"/>
                          <a:ea typeface="Calibri" pitchFamily="34" charset="-122"/>
                          <a:cs typeface="Calibri" pitchFamily="34" charset="-120"/>
                        </a:rPr>
                        <a:t>2029E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r>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Revenue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21,173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27,559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28,263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33,916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40,020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46,023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51,546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56,701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i="1" dirty="0">
                          <a:solidFill>
                            <a:srgbClr val="4A4A4A"/>
                          </a:solidFill>
                          <a:latin typeface="Calibri" pitchFamily="34" charset="0"/>
                          <a:ea typeface="Calibri" pitchFamily="34" charset="-122"/>
                          <a:cs typeface="Calibri" pitchFamily="34" charset="-120"/>
                        </a:rPr>
                        <a:t>  % Growth</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30.2%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1B5E20"/>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1B5E20"/>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1B5E20"/>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1B5E20"/>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1B5E2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Gross Profit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11,115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14,622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15,068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18,654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22,411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26,233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29,897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32,886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i="1" dirty="0">
                          <a:solidFill>
                            <a:srgbClr val="4A4A4A"/>
                          </a:solidFill>
                          <a:latin typeface="Calibri" pitchFamily="34" charset="0"/>
                          <a:ea typeface="Calibri" pitchFamily="34" charset="-122"/>
                          <a:cs typeface="Calibri" pitchFamily="34" charset="-120"/>
                        </a:rPr>
                        <a:t>  % Margin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52.5%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53.1%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53.3%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55.0%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56.0%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57.0%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58.0%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58.0%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EBIT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6,501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9,042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9,023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11,416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14,235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17,224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20,174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22,538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i="1" dirty="0">
                          <a:solidFill>
                            <a:srgbClr val="4A4A4A"/>
                          </a:solidFill>
                          <a:latin typeface="Calibri" pitchFamily="34" charset="0"/>
                          <a:ea typeface="Calibri" pitchFamily="34" charset="-122"/>
                          <a:cs typeface="Calibri" pitchFamily="34" charset="-120"/>
                        </a:rPr>
                        <a:t>  % Margin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30.7%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32.8%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31.9%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33.7%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35.6%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37.4%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39.1%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4A4A4A"/>
                          </a:solidFill>
                          <a:latin typeface="Calibri" pitchFamily="34" charset="0"/>
                          <a:ea typeface="Calibri" pitchFamily="34" charset="-122"/>
                          <a:cs typeface="Calibri" pitchFamily="34" charset="-120"/>
                        </a:rPr>
                        <a:t>39.7%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Net Income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5,624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7,839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7,572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9,737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12,126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14,736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17,351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19,532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Unlevered FCF</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8,401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9,922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11,664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13,919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16,137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900" dirty="0">
                          <a:solidFill>
                            <a:srgbClr val="000000"/>
                          </a:solidFill>
                          <a:latin typeface="Calibri" pitchFamily="34" charset="0"/>
                          <a:ea typeface="Calibri" pitchFamily="34" charset="-122"/>
                          <a:cs typeface="Calibri" pitchFamily="34" charset="-120"/>
                        </a:rPr>
                        <a:t>17,381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8" name="Shape 5"/>
          <p:cNvSpPr/>
          <p:nvPr/>
        </p:nvSpPr>
        <p:spPr>
          <a:xfrm>
            <a:off x="365760" y="3291840"/>
            <a:ext cx="8412480" cy="1463040"/>
          </a:xfrm>
          <a:prstGeom prst="rect">
            <a:avLst/>
          </a:prstGeom>
          <a:solidFill>
            <a:srgbClr val="F7F7F7"/>
          </a:solidFill>
          <a:ln/>
        </p:spPr>
      </p:sp>
      <p:sp>
        <p:nvSpPr>
          <p:cNvPr id="9" name="Text 6"/>
          <p:cNvSpPr/>
          <p:nvPr/>
        </p:nvSpPr>
        <p:spPr>
          <a:xfrm>
            <a:off x="502920" y="3383280"/>
            <a:ext cx="36576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Key Assumptions (Bull Case)</a:t>
            </a:r>
            <a:endParaRPr lang="en-US" sz="1100" dirty="0"/>
          </a:p>
        </p:txBody>
      </p:sp>
      <p:sp>
        <p:nvSpPr>
          <p:cNvPr id="10" name="Text 7"/>
          <p:cNvSpPr/>
          <p:nvPr/>
        </p:nvSpPr>
        <p:spPr>
          <a:xfrm>
            <a:off x="502920" y="3657600"/>
            <a:ext cx="3931920" cy="1005840"/>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 Revenue CAGR 2024-2029E: 15.0%</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Gross margin expansion: 53.3% → 58.0%</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EBIT margin expansion: 31.9% → 39.7%</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R&amp;D declining to 12% of revenue by 2029E</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CapEx declining to 5% of revenue</a:t>
            </a:r>
            <a:endParaRPr lang="en-US" sz="900" dirty="0"/>
          </a:p>
        </p:txBody>
      </p:sp>
      <p:sp>
        <p:nvSpPr>
          <p:cNvPr id="11" name="Text 8"/>
          <p:cNvSpPr/>
          <p:nvPr/>
        </p:nvSpPr>
        <p:spPr>
          <a:xfrm>
            <a:off x="4572000" y="3383280"/>
            <a:ext cx="36576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Revenue Growth Scenarios</a:t>
            </a:r>
            <a:endParaRPr lang="en-US" sz="1100" dirty="0"/>
          </a:p>
        </p:txBody>
      </p:sp>
      <p:sp>
        <p:nvSpPr>
          <p:cNvPr id="12" name="Text 9"/>
          <p:cNvSpPr/>
          <p:nvPr/>
        </p:nvSpPr>
        <p:spPr>
          <a:xfrm>
            <a:off x="4572000" y="3657600"/>
            <a:ext cx="3931920" cy="1005840"/>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Bull Case: 20%/18%/15%/12%/10%</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Base Case: 15%/12%/10%/8%/6%</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Bear Case: 5%/3%/4%/5%/4%</a:t>
            </a:r>
            <a:endParaRPr lang="en-US" sz="900" dirty="0"/>
          </a:p>
          <a:p>
            <a:pPr indent="0" marL="0">
              <a:buNone/>
            </a:pP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Active Scenario: Bull Case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DCF Valuation Analysis</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Discounted Cash Flow Model</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sp>
        <p:nvSpPr>
          <p:cNvPr id="7" name="Shape 5"/>
          <p:cNvSpPr/>
          <p:nvPr/>
        </p:nvSpPr>
        <p:spPr>
          <a:xfrm>
            <a:off x="365760" y="914400"/>
            <a:ext cx="2560320" cy="237744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8" name="Shape 6"/>
          <p:cNvSpPr/>
          <p:nvPr/>
        </p:nvSpPr>
        <p:spPr>
          <a:xfrm>
            <a:off x="365760" y="914400"/>
            <a:ext cx="45720" cy="2377440"/>
          </a:xfrm>
          <a:prstGeom prst="rect">
            <a:avLst/>
          </a:prstGeom>
          <a:solidFill>
            <a:srgbClr val="0A2647"/>
          </a:solidFill>
          <a:ln/>
        </p:spPr>
      </p:sp>
      <p:sp>
        <p:nvSpPr>
          <p:cNvPr id="9" name="Text 7"/>
          <p:cNvSpPr/>
          <p:nvPr/>
        </p:nvSpPr>
        <p:spPr>
          <a:xfrm>
            <a:off x="502920" y="987552"/>
            <a:ext cx="237744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WACC Calculation</a:t>
            </a:r>
            <a:endParaRPr lang="en-US" sz="1100" dirty="0"/>
          </a:p>
        </p:txBody>
      </p:sp>
      <p:sp>
        <p:nvSpPr>
          <p:cNvPr id="10" name="Text 8"/>
          <p:cNvSpPr/>
          <p:nvPr/>
        </p:nvSpPr>
        <p:spPr>
          <a:xfrm>
            <a:off x="548640" y="1261872"/>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Risk-Free Rate</a:t>
            </a:r>
            <a:endParaRPr lang="en-US" sz="800" dirty="0"/>
          </a:p>
        </p:txBody>
      </p:sp>
      <p:sp>
        <p:nvSpPr>
          <p:cNvPr id="11" name="Text 9"/>
          <p:cNvSpPr/>
          <p:nvPr/>
        </p:nvSpPr>
        <p:spPr>
          <a:xfrm>
            <a:off x="2011680" y="1261872"/>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2.91%</a:t>
            </a:r>
            <a:endParaRPr lang="en-US" sz="800" dirty="0"/>
          </a:p>
        </p:txBody>
      </p:sp>
      <p:sp>
        <p:nvSpPr>
          <p:cNvPr id="12" name="Text 10"/>
          <p:cNvSpPr/>
          <p:nvPr/>
        </p:nvSpPr>
        <p:spPr>
          <a:xfrm>
            <a:off x="548640" y="1435608"/>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Equity Risk Premium</a:t>
            </a:r>
            <a:endParaRPr lang="en-US" sz="800" dirty="0"/>
          </a:p>
        </p:txBody>
      </p:sp>
      <p:sp>
        <p:nvSpPr>
          <p:cNvPr id="13" name="Text 11"/>
          <p:cNvSpPr/>
          <p:nvPr/>
        </p:nvSpPr>
        <p:spPr>
          <a:xfrm>
            <a:off x="2011680" y="1435608"/>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4.23%</a:t>
            </a:r>
            <a:endParaRPr lang="en-US" sz="800" dirty="0"/>
          </a:p>
        </p:txBody>
      </p:sp>
      <p:sp>
        <p:nvSpPr>
          <p:cNvPr id="14" name="Text 12"/>
          <p:cNvSpPr/>
          <p:nvPr/>
        </p:nvSpPr>
        <p:spPr>
          <a:xfrm>
            <a:off x="548640" y="1609344"/>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Levered Beta</a:t>
            </a:r>
            <a:endParaRPr lang="en-US" sz="800" dirty="0"/>
          </a:p>
        </p:txBody>
      </p:sp>
      <p:sp>
        <p:nvSpPr>
          <p:cNvPr id="15" name="Text 13"/>
          <p:cNvSpPr/>
          <p:nvPr/>
        </p:nvSpPr>
        <p:spPr>
          <a:xfrm>
            <a:off x="2011680" y="1609344"/>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1.69x</a:t>
            </a:r>
            <a:endParaRPr lang="en-US" sz="800" dirty="0"/>
          </a:p>
        </p:txBody>
      </p:sp>
      <p:sp>
        <p:nvSpPr>
          <p:cNvPr id="16" name="Text 14"/>
          <p:cNvSpPr/>
          <p:nvPr/>
        </p:nvSpPr>
        <p:spPr>
          <a:xfrm>
            <a:off x="548640" y="1783080"/>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Cost of Equity</a:t>
            </a:r>
            <a:endParaRPr lang="en-US" sz="800" dirty="0"/>
          </a:p>
        </p:txBody>
      </p:sp>
      <p:sp>
        <p:nvSpPr>
          <p:cNvPr id="17" name="Text 15"/>
          <p:cNvSpPr/>
          <p:nvPr/>
        </p:nvSpPr>
        <p:spPr>
          <a:xfrm>
            <a:off x="2011680" y="1783080"/>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10.06%</a:t>
            </a:r>
            <a:endParaRPr lang="en-US" sz="800" dirty="0"/>
          </a:p>
        </p:txBody>
      </p:sp>
      <p:sp>
        <p:nvSpPr>
          <p:cNvPr id="18" name="Text 16"/>
          <p:cNvSpPr/>
          <p:nvPr/>
        </p:nvSpPr>
        <p:spPr>
          <a:xfrm>
            <a:off x="548640" y="1956816"/>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Pre-Tax Cost of Debt</a:t>
            </a:r>
            <a:endParaRPr lang="en-US" sz="800" dirty="0"/>
          </a:p>
        </p:txBody>
      </p:sp>
      <p:sp>
        <p:nvSpPr>
          <p:cNvPr id="19" name="Text 17"/>
          <p:cNvSpPr/>
          <p:nvPr/>
        </p:nvSpPr>
        <p:spPr>
          <a:xfrm>
            <a:off x="2011680" y="1956816"/>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2.39%</a:t>
            </a:r>
            <a:endParaRPr lang="en-US" sz="800" dirty="0"/>
          </a:p>
        </p:txBody>
      </p:sp>
      <p:sp>
        <p:nvSpPr>
          <p:cNvPr id="20" name="Text 18"/>
          <p:cNvSpPr/>
          <p:nvPr/>
        </p:nvSpPr>
        <p:spPr>
          <a:xfrm>
            <a:off x="548640" y="2130552"/>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Tax Rate</a:t>
            </a:r>
            <a:endParaRPr lang="en-US" sz="800" dirty="0"/>
          </a:p>
        </p:txBody>
      </p:sp>
      <p:sp>
        <p:nvSpPr>
          <p:cNvPr id="21" name="Text 19"/>
          <p:cNvSpPr/>
          <p:nvPr/>
        </p:nvSpPr>
        <p:spPr>
          <a:xfrm>
            <a:off x="2011680" y="2130552"/>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17.5%</a:t>
            </a:r>
            <a:endParaRPr lang="en-US" sz="800" dirty="0"/>
          </a:p>
        </p:txBody>
      </p:sp>
      <p:sp>
        <p:nvSpPr>
          <p:cNvPr id="22" name="Text 20"/>
          <p:cNvSpPr/>
          <p:nvPr/>
        </p:nvSpPr>
        <p:spPr>
          <a:xfrm>
            <a:off x="548640" y="2304288"/>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After-Tax Cost of Debt</a:t>
            </a:r>
            <a:endParaRPr lang="en-US" sz="800" dirty="0"/>
          </a:p>
        </p:txBody>
      </p:sp>
      <p:sp>
        <p:nvSpPr>
          <p:cNvPr id="23" name="Text 21"/>
          <p:cNvSpPr/>
          <p:nvPr/>
        </p:nvSpPr>
        <p:spPr>
          <a:xfrm>
            <a:off x="2011680" y="2304288"/>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1.97%</a:t>
            </a:r>
            <a:endParaRPr lang="en-US" sz="800" dirty="0"/>
          </a:p>
        </p:txBody>
      </p:sp>
      <p:sp>
        <p:nvSpPr>
          <p:cNvPr id="24" name="Text 22"/>
          <p:cNvSpPr/>
          <p:nvPr/>
        </p:nvSpPr>
        <p:spPr>
          <a:xfrm>
            <a:off x="548640" y="2478024"/>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Equity Weight</a:t>
            </a:r>
            <a:endParaRPr lang="en-US" sz="800" dirty="0"/>
          </a:p>
        </p:txBody>
      </p:sp>
      <p:sp>
        <p:nvSpPr>
          <p:cNvPr id="25" name="Text 23"/>
          <p:cNvSpPr/>
          <p:nvPr/>
        </p:nvSpPr>
        <p:spPr>
          <a:xfrm>
            <a:off x="2011680" y="2478024"/>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99.4%</a:t>
            </a:r>
            <a:endParaRPr lang="en-US" sz="800" dirty="0"/>
          </a:p>
        </p:txBody>
      </p:sp>
      <p:sp>
        <p:nvSpPr>
          <p:cNvPr id="26" name="Text 24"/>
          <p:cNvSpPr/>
          <p:nvPr/>
        </p:nvSpPr>
        <p:spPr>
          <a:xfrm>
            <a:off x="548640" y="2651760"/>
            <a:ext cx="1463040" cy="173736"/>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Debt Weight</a:t>
            </a:r>
            <a:endParaRPr lang="en-US" sz="800" dirty="0"/>
          </a:p>
        </p:txBody>
      </p:sp>
      <p:sp>
        <p:nvSpPr>
          <p:cNvPr id="27" name="Text 25"/>
          <p:cNvSpPr/>
          <p:nvPr/>
        </p:nvSpPr>
        <p:spPr>
          <a:xfrm>
            <a:off x="2011680" y="2651760"/>
            <a:ext cx="777240" cy="173736"/>
          </a:xfrm>
          <a:prstGeom prst="rect">
            <a:avLst/>
          </a:prstGeom>
          <a:noFill/>
          <a:ln/>
        </p:spPr>
        <p:txBody>
          <a:bodyPr wrap="square" rtlCol="0" anchor="ctr"/>
          <a:lstStyle/>
          <a:p>
            <a:pPr algn="r" indent="0" marL="0">
              <a:buNone/>
            </a:pPr>
            <a:r>
              <a:rPr lang="en-US" sz="800" dirty="0">
                <a:solidFill>
                  <a:srgbClr val="4A4A4A"/>
                </a:solidFill>
                <a:latin typeface="Calibri" pitchFamily="34" charset="0"/>
                <a:ea typeface="Calibri" pitchFamily="34" charset="-122"/>
                <a:cs typeface="Calibri" pitchFamily="34" charset="-120"/>
              </a:rPr>
              <a:t>0.6%</a:t>
            </a:r>
            <a:endParaRPr lang="en-US" sz="800" dirty="0"/>
          </a:p>
        </p:txBody>
      </p:sp>
      <p:sp>
        <p:nvSpPr>
          <p:cNvPr id="28" name="Text 26"/>
          <p:cNvSpPr/>
          <p:nvPr/>
        </p:nvSpPr>
        <p:spPr>
          <a:xfrm>
            <a:off x="548640" y="2825496"/>
            <a:ext cx="1463040" cy="173736"/>
          </a:xfrm>
          <a:prstGeom prst="rect">
            <a:avLst/>
          </a:prstGeom>
          <a:noFill/>
          <a:ln/>
        </p:spPr>
        <p:txBody>
          <a:bodyPr wrap="square" rtlCol="0" anchor="ctr"/>
          <a:lstStyle/>
          <a:p>
            <a:pPr indent="0" marL="0">
              <a:buNone/>
            </a:pPr>
            <a:endParaRPr lang="en-US" sz="800" dirty="0"/>
          </a:p>
        </p:txBody>
      </p:sp>
      <p:sp>
        <p:nvSpPr>
          <p:cNvPr id="29" name="Text 27"/>
          <p:cNvSpPr/>
          <p:nvPr/>
        </p:nvSpPr>
        <p:spPr>
          <a:xfrm>
            <a:off x="2011680" y="2825496"/>
            <a:ext cx="777240" cy="173736"/>
          </a:xfrm>
          <a:prstGeom prst="rect">
            <a:avLst/>
          </a:prstGeom>
          <a:noFill/>
          <a:ln/>
        </p:spPr>
        <p:txBody>
          <a:bodyPr wrap="square" rtlCol="0" anchor="ctr"/>
          <a:lstStyle/>
          <a:p>
            <a:pPr algn="r" indent="0" marL="0">
              <a:buNone/>
            </a:pPr>
            <a:endParaRPr lang="en-US" sz="800" dirty="0"/>
          </a:p>
        </p:txBody>
      </p:sp>
      <p:sp>
        <p:nvSpPr>
          <p:cNvPr id="30" name="Shape 28"/>
          <p:cNvSpPr/>
          <p:nvPr/>
        </p:nvSpPr>
        <p:spPr>
          <a:xfrm>
            <a:off x="502920" y="2999232"/>
            <a:ext cx="2331720" cy="201168"/>
          </a:xfrm>
          <a:prstGeom prst="rect">
            <a:avLst/>
          </a:prstGeom>
          <a:solidFill>
            <a:srgbClr val="0A2647"/>
          </a:solidFill>
          <a:ln/>
        </p:spPr>
      </p:sp>
      <p:sp>
        <p:nvSpPr>
          <p:cNvPr id="31" name="Text 29"/>
          <p:cNvSpPr/>
          <p:nvPr/>
        </p:nvSpPr>
        <p:spPr>
          <a:xfrm>
            <a:off x="548640" y="2999232"/>
            <a:ext cx="1463040" cy="173736"/>
          </a:xfrm>
          <a:prstGeom prst="rect">
            <a:avLst/>
          </a:prstGeom>
          <a:noFill/>
          <a:ln/>
        </p:spPr>
        <p:txBody>
          <a:bodyPr wrap="square"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WACC</a:t>
            </a:r>
            <a:endParaRPr lang="en-US" sz="800" dirty="0"/>
          </a:p>
        </p:txBody>
      </p:sp>
      <p:sp>
        <p:nvSpPr>
          <p:cNvPr id="32" name="Text 30"/>
          <p:cNvSpPr/>
          <p:nvPr/>
        </p:nvSpPr>
        <p:spPr>
          <a:xfrm>
            <a:off x="2011680" y="2999232"/>
            <a:ext cx="777240" cy="173736"/>
          </a:xfrm>
          <a:prstGeom prst="rect">
            <a:avLst/>
          </a:prstGeom>
          <a:noFill/>
          <a:ln/>
        </p:spPr>
        <p:txBody>
          <a:bodyPr wrap="square"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10.0%</a:t>
            </a:r>
            <a:endParaRPr lang="en-US" sz="800" dirty="0"/>
          </a:p>
        </p:txBody>
      </p:sp>
      <p:sp>
        <p:nvSpPr>
          <p:cNvPr id="33" name="Text 31"/>
          <p:cNvSpPr/>
          <p:nvPr/>
        </p:nvSpPr>
        <p:spPr>
          <a:xfrm>
            <a:off x="3108960" y="914400"/>
            <a:ext cx="54864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Unlevered Free Cash Flow (€mm)</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108960" y="1170432"/>
          <a:ext cx="5669280" cy="914400"/>
        </p:xfrm>
        <a:graphic>
          <a:graphicData uri="http://schemas.openxmlformats.org/drawingml/2006/table">
            <a:tbl>
              <a:tblPr/>
              <a:tblGrid>
                <a:gridCol w="1097280"/>
                <a:gridCol w="868680"/>
                <a:gridCol w="868680"/>
                <a:gridCol w="868680"/>
                <a:gridCol w="868680"/>
                <a:gridCol w="868680"/>
              </a:tblGrid>
              <a:tr h="219456">
                <a:tc>
                  <a:txBody>
                    <a:bodyPr/>
                    <a:lstStyle/>
                    <a:p>
                      <a:pPr indent="0" marL="0">
                        <a:buNone/>
                      </a:pP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2025E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2026E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2027E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2028E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2029E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19456">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EBIT</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11,416</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14,235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17,224</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20,174</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22,538</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19456">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Less: Taxes</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(1,998)</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(2,491)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(3,014)</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(3,530)</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(3,944)</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19456">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Plus: D&amp;A</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1,133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1,252</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1,370</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1,475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1,560</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19456">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Less: CapEx</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(2,205)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(2,401)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(2,531)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(2,577)</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(2,835)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19456">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Less: Δ NWC</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1,576</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1,068</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871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595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62</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19456">
                <a:tc>
                  <a:txBody>
                    <a:bodyPr/>
                    <a:lstStyle/>
                    <a:p>
                      <a:pPr indent="0" marL="0">
                        <a:buNone/>
                      </a:pPr>
                      <a:r>
                        <a:rPr lang="en-US" sz="800" b="1" dirty="0">
                          <a:solidFill>
                            <a:srgbClr val="000000"/>
                          </a:solidFill>
                          <a:latin typeface="Calibri" pitchFamily="34" charset="0"/>
                          <a:ea typeface="Calibri" pitchFamily="34" charset="-122"/>
                          <a:cs typeface="Calibri" pitchFamily="34" charset="-120"/>
                        </a:rPr>
                        <a:t>Unlevered FCF</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9,922</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11,664</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13,919</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16,137</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17,381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r>
              <a:tr h="219456">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Discount Factor</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4A4A4A"/>
                          </a:solidFill>
                          <a:latin typeface="Calibri" pitchFamily="34" charset="0"/>
                          <a:ea typeface="Calibri" pitchFamily="34" charset="-122"/>
                          <a:cs typeface="Calibri" pitchFamily="34" charset="-120"/>
                        </a:rPr>
                        <a:t>0.953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4A4A4A"/>
                          </a:solidFill>
                          <a:latin typeface="Calibri" pitchFamily="34" charset="0"/>
                          <a:ea typeface="Calibri" pitchFamily="34" charset="-122"/>
                          <a:cs typeface="Calibri" pitchFamily="34" charset="-120"/>
                        </a:rPr>
                        <a:t>0.867</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4A4A4A"/>
                          </a:solidFill>
                          <a:latin typeface="Calibri" pitchFamily="34" charset="0"/>
                          <a:ea typeface="Calibri" pitchFamily="34" charset="-122"/>
                          <a:cs typeface="Calibri" pitchFamily="34" charset="-120"/>
                        </a:rPr>
                        <a:t>0.788</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4A4A4A"/>
                          </a:solidFill>
                          <a:latin typeface="Calibri" pitchFamily="34" charset="0"/>
                          <a:ea typeface="Calibri" pitchFamily="34" charset="-122"/>
                          <a:cs typeface="Calibri" pitchFamily="34" charset="-120"/>
                        </a:rPr>
                        <a:t>0.716</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4A4A4A"/>
                          </a:solidFill>
                          <a:latin typeface="Calibri" pitchFamily="34" charset="0"/>
                          <a:ea typeface="Calibri" pitchFamily="34" charset="-122"/>
                          <a:cs typeface="Calibri" pitchFamily="34" charset="-120"/>
                        </a:rPr>
                        <a:t>0.651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19456">
                <a:tc>
                  <a:txBody>
                    <a:bodyPr/>
                    <a:lstStyle/>
                    <a:p>
                      <a:pPr indent="0" marL="0">
                        <a:buNone/>
                      </a:pPr>
                      <a:r>
                        <a:rPr lang="en-US" sz="800" b="1" dirty="0">
                          <a:solidFill>
                            <a:srgbClr val="000000"/>
                          </a:solidFill>
                          <a:latin typeface="Calibri" pitchFamily="34" charset="0"/>
                          <a:ea typeface="Calibri" pitchFamily="34" charset="-122"/>
                          <a:cs typeface="Calibri" pitchFamily="34" charset="-120"/>
                        </a:rPr>
                        <a:t>PV of FCF</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9,460</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10,108</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10,965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11,555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11,313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35" name="Text 32"/>
          <p:cNvSpPr/>
          <p:nvPr/>
        </p:nvSpPr>
        <p:spPr>
          <a:xfrm>
            <a:off x="365760" y="3429000"/>
            <a:ext cx="36576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EV to Equity Bridge (€mm)</a:t>
            </a:r>
            <a:endParaRPr lang="en-US" sz="11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365760" y="3675888"/>
          <a:ext cx="3840480" cy="914400"/>
        </p:xfrm>
        <a:graphic>
          <a:graphicData uri="http://schemas.openxmlformats.org/drawingml/2006/table">
            <a:tbl>
              <a:tblPr/>
              <a:tblGrid>
                <a:gridCol w="1737360"/>
                <a:gridCol w="1005840"/>
                <a:gridCol w="1005840"/>
              </a:tblGrid>
              <a:tr h="201168">
                <a:tc>
                  <a:txBody>
                    <a:bodyPr/>
                    <a:lstStyle/>
                    <a:p>
                      <a:pPr indent="0" marL="0">
                        <a:buNone/>
                      </a:pP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Perpetuity</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Exit Multiple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01168">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Sum of PV of FCF</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53,401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53,401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01168">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PV of Terminal Value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154,372</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204,817</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01168">
                <a:tc>
                  <a:txBody>
                    <a:bodyPr/>
                    <a:lstStyle/>
                    <a:p>
                      <a:pPr indent="0" marL="0">
                        <a:buNone/>
                      </a:pPr>
                      <a:r>
                        <a:rPr lang="en-US" sz="800" b="1" dirty="0">
                          <a:solidFill>
                            <a:srgbClr val="000000"/>
                          </a:solidFill>
                          <a:latin typeface="Calibri" pitchFamily="34" charset="0"/>
                          <a:ea typeface="Calibri" pitchFamily="34" charset="-122"/>
                          <a:cs typeface="Calibri" pitchFamily="34" charset="-120"/>
                        </a:rPr>
                        <a:t>Enterprise Value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207,773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258,219</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01168">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Less: Total Debt</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(4,994)</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(4,994)</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01168">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Plus: Cash</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12,741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12,741</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01168">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Plus: Equity Investments</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2,677</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2,677</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01168">
                <a:tc>
                  <a:txBody>
                    <a:bodyPr/>
                    <a:lstStyle/>
                    <a:p>
                      <a:pPr indent="0" marL="0">
                        <a:buNone/>
                      </a:pPr>
                      <a:r>
                        <a:rPr lang="en-US" sz="800" b="1" dirty="0">
                          <a:solidFill>
                            <a:srgbClr val="000000"/>
                          </a:solidFill>
                          <a:latin typeface="Calibri" pitchFamily="34" charset="0"/>
                          <a:ea typeface="Calibri" pitchFamily="34" charset="-122"/>
                          <a:cs typeface="Calibri" pitchFamily="34" charset="-120"/>
                        </a:rPr>
                        <a:t>Equity Value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218,198</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r" indent="0" marL="0">
                        <a:buNone/>
                      </a:pPr>
                      <a:r>
                        <a:rPr lang="en-US" sz="800" b="1" dirty="0">
                          <a:solidFill>
                            <a:srgbClr val="000000"/>
                          </a:solidFill>
                          <a:latin typeface="Calibri" pitchFamily="34" charset="0"/>
                          <a:ea typeface="Calibri" pitchFamily="34" charset="-122"/>
                          <a:cs typeface="Calibri" pitchFamily="34" charset="-120"/>
                        </a:rPr>
                        <a:t>268,643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r>
              <a:tr h="201168">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Shares Outstanding (mm)</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393.3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dirty="0">
                          <a:solidFill>
                            <a:srgbClr val="000000"/>
                          </a:solidFill>
                          <a:latin typeface="Calibri" pitchFamily="34" charset="0"/>
                          <a:ea typeface="Calibri" pitchFamily="34" charset="-122"/>
                          <a:cs typeface="Calibri" pitchFamily="34" charset="-120"/>
                        </a:rPr>
                        <a:t>393.3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01168">
                <a:tc>
                  <a:txBody>
                    <a:bodyPr/>
                    <a:lstStyle/>
                    <a:p>
                      <a:pPr indent="0" marL="0">
                        <a:buNone/>
                      </a:pPr>
                      <a:r>
                        <a:rPr lang="en-US" sz="800" b="1" dirty="0">
                          <a:solidFill>
                            <a:srgbClr val="000000"/>
                          </a:solidFill>
                          <a:latin typeface="Calibri" pitchFamily="34" charset="0"/>
                          <a:ea typeface="Calibri" pitchFamily="34" charset="-122"/>
                          <a:cs typeface="Calibri" pitchFamily="34" charset="-120"/>
                        </a:rPr>
                        <a:t>Implied Share Price</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1B5E20"/>
                          </a:solidFill>
                          <a:latin typeface="Calibri" pitchFamily="34" charset="0"/>
                          <a:ea typeface="Calibri" pitchFamily="34" charset="-122"/>
                          <a:cs typeface="Calibri" pitchFamily="34" charset="-120"/>
                        </a:rPr>
                        <a:t>€555</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800" b="1" dirty="0">
                          <a:solidFill>
                            <a:srgbClr val="1B5E20"/>
                          </a:solidFill>
                          <a:latin typeface="Calibri" pitchFamily="34" charset="0"/>
                          <a:ea typeface="Calibri" pitchFamily="34" charset="-122"/>
                          <a:cs typeface="Calibri" pitchFamily="34" charset="-120"/>
                        </a:rPr>
                        <a:t>€683</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37" name="Shape 33"/>
          <p:cNvSpPr/>
          <p:nvPr/>
        </p:nvSpPr>
        <p:spPr>
          <a:xfrm>
            <a:off x="4572000" y="3429000"/>
            <a:ext cx="4206240" cy="137160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38" name="Text 34"/>
          <p:cNvSpPr/>
          <p:nvPr/>
        </p:nvSpPr>
        <p:spPr>
          <a:xfrm>
            <a:off x="4709160" y="3520440"/>
            <a:ext cx="393192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Terminal Value Assumptions</a:t>
            </a:r>
            <a:endParaRPr lang="en-US" sz="1100" dirty="0"/>
          </a:p>
        </p:txBody>
      </p:sp>
      <p:sp>
        <p:nvSpPr>
          <p:cNvPr id="39" name="Text 35"/>
          <p:cNvSpPr/>
          <p:nvPr/>
        </p:nvSpPr>
        <p:spPr>
          <a:xfrm>
            <a:off x="4709160" y="3794760"/>
            <a:ext cx="1920240" cy="8686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Perpetuity Growth Method</a:t>
            </a:r>
            <a:endParaRPr lang="en-US" sz="800" dirty="0"/>
          </a:p>
          <a:p>
            <a:pPr indent="0" marL="0">
              <a:buNone/>
            </a:pPr>
            <a:r>
              <a:rPr lang="en-US" sz="800" dirty="0">
                <a:solidFill>
                  <a:srgbClr val="4A4A4A"/>
                </a:solidFill>
                <a:latin typeface="Calibri" pitchFamily="34" charset="0"/>
                <a:ea typeface="Calibri" pitchFamily="34" charset="-122"/>
                <a:cs typeface="Calibri" pitchFamily="34" charset="-120"/>
              </a:rPr>
              <a:t>• Terminal FCF: €17,381mm</a:t>
            </a:r>
            <a:endParaRPr lang="en-US" sz="800" dirty="0"/>
          </a:p>
          <a:p>
            <a:pPr indent="0" marL="0">
              <a:buNone/>
            </a:pPr>
            <a:r>
              <a:rPr lang="en-US" sz="800" dirty="0">
                <a:solidFill>
                  <a:srgbClr val="4A4A4A"/>
                </a:solidFill>
                <a:latin typeface="Calibri" pitchFamily="34" charset="0"/>
                <a:ea typeface="Calibri" pitchFamily="34" charset="-122"/>
                <a:cs typeface="Calibri" pitchFamily="34" charset="-120"/>
              </a:rPr>
              <a:t>• Perpetual Growth: 2.5%</a:t>
            </a:r>
            <a:endParaRPr lang="en-US" sz="800" dirty="0"/>
          </a:p>
          <a:p>
            <a:pPr indent="0" marL="0">
              <a:buNone/>
            </a:pPr>
            <a:r>
              <a:rPr lang="en-US" sz="800" dirty="0">
                <a:solidFill>
                  <a:srgbClr val="4A4A4A"/>
                </a:solidFill>
                <a:latin typeface="Calibri" pitchFamily="34" charset="0"/>
                <a:ea typeface="Calibri" pitchFamily="34" charset="-122"/>
                <a:cs typeface="Calibri" pitchFamily="34" charset="-120"/>
              </a:rPr>
              <a:t>• Terminal Value: €237,162mm</a:t>
            </a:r>
            <a:endParaRPr lang="en-US" sz="800" dirty="0"/>
          </a:p>
        </p:txBody>
      </p:sp>
      <p:sp>
        <p:nvSpPr>
          <p:cNvPr id="40" name="Text 36"/>
          <p:cNvSpPr/>
          <p:nvPr/>
        </p:nvSpPr>
        <p:spPr>
          <a:xfrm>
            <a:off x="6675120" y="3794760"/>
            <a:ext cx="1920240" cy="8686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Exit Multiple Method</a:t>
            </a:r>
            <a:endParaRPr lang="en-US" sz="800" dirty="0"/>
          </a:p>
          <a:p>
            <a:pPr indent="0" marL="0">
              <a:buNone/>
            </a:pPr>
            <a:r>
              <a:rPr lang="en-US" sz="800" dirty="0">
                <a:solidFill>
                  <a:srgbClr val="4A4A4A"/>
                </a:solidFill>
                <a:latin typeface="Calibri" pitchFamily="34" charset="0"/>
                <a:ea typeface="Calibri" pitchFamily="34" charset="-122"/>
                <a:cs typeface="Calibri" pitchFamily="34" charset="-120"/>
              </a:rPr>
              <a:t>• Terminal EBITDA: €20,977mm</a:t>
            </a:r>
            <a:endParaRPr lang="en-US" sz="800" dirty="0"/>
          </a:p>
          <a:p>
            <a:pPr indent="0" marL="0">
              <a:buNone/>
            </a:pPr>
            <a:r>
              <a:rPr lang="en-US" sz="800" dirty="0">
                <a:solidFill>
                  <a:srgbClr val="4A4A4A"/>
                </a:solidFill>
                <a:latin typeface="Calibri" pitchFamily="34" charset="0"/>
                <a:ea typeface="Calibri" pitchFamily="34" charset="-122"/>
                <a:cs typeface="Calibri" pitchFamily="34" charset="-120"/>
              </a:rPr>
              <a:t>• Exit EV/EBITDA: 15.0x</a:t>
            </a:r>
            <a:endParaRPr lang="en-US" sz="800" dirty="0"/>
          </a:p>
          <a:p>
            <a:pPr indent="0" marL="0">
              <a:buNone/>
            </a:pPr>
            <a:r>
              <a:rPr lang="en-US" sz="800" dirty="0">
                <a:solidFill>
                  <a:srgbClr val="4A4A4A"/>
                </a:solidFill>
                <a:latin typeface="Calibri" pitchFamily="34" charset="0"/>
                <a:ea typeface="Calibri" pitchFamily="34" charset="-122"/>
                <a:cs typeface="Calibri" pitchFamily="34" charset="-120"/>
              </a:rPr>
              <a:t>• Terminal Value: €314,661mm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Sensitivity Analysis</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Implied Share Price (€)</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sp>
        <p:nvSpPr>
          <p:cNvPr id="7" name="Text 5"/>
          <p:cNvSpPr/>
          <p:nvPr/>
        </p:nvSpPr>
        <p:spPr>
          <a:xfrm>
            <a:off x="365760" y="914400"/>
            <a:ext cx="41148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Perpetuity Growth Method — WACC vs. Terminal Growth Rate</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4023360" cy="914400"/>
        </p:xfrm>
        <a:graphic>
          <a:graphicData uri="http://schemas.openxmlformats.org/drawingml/2006/table">
            <a:tbl>
              <a:tblPr/>
              <a:tblGrid>
                <a:gridCol w="822960"/>
                <a:gridCol w="640080"/>
                <a:gridCol w="640080"/>
                <a:gridCol w="640080"/>
                <a:gridCol w="640080"/>
                <a:gridCol w="64008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WACC \ g</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C9A227"/>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€649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€692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€743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€804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€879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€567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€598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€634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€676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€725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C9A227"/>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€505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€528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€555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€585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€619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€457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€475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€495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€517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€543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€418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€433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€448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€465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€485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9" name="Text 6"/>
          <p:cNvSpPr/>
          <p:nvPr/>
        </p:nvSpPr>
        <p:spPr>
          <a:xfrm>
            <a:off x="4754880" y="914400"/>
            <a:ext cx="41148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Exit Multiple Method — WACC vs. EV/EBITDA Multiple</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754880" y="1188720"/>
          <a:ext cx="4023360" cy="914400"/>
        </p:xfrm>
        <a:graphic>
          <a:graphicData uri="http://schemas.openxmlformats.org/drawingml/2006/table">
            <a:tbl>
              <a:tblPr/>
              <a:tblGrid>
                <a:gridCol w="822960"/>
                <a:gridCol w="640080"/>
                <a:gridCol w="640080"/>
                <a:gridCol w="640080"/>
                <a:gridCol w="640080"/>
                <a:gridCol w="64008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WACC \ 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12.0x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13.5x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C9A227"/>
                          </a:solidFill>
                          <a:latin typeface="Calibri" pitchFamily="34" charset="0"/>
                          <a:ea typeface="Calibri" pitchFamily="34" charset="-122"/>
                          <a:cs typeface="Calibri" pitchFamily="34" charset="-120"/>
                        </a:rPr>
                        <a:t>15.0x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16.5x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18.0x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€615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€671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€728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€784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€841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€596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€651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€705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€759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€813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C9A227"/>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€579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€631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€683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€735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€787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€562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€612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€662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€712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€762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7432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€546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€594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€642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€691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€739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11" name="Text 7"/>
          <p:cNvSpPr/>
          <p:nvPr/>
        </p:nvSpPr>
        <p:spPr>
          <a:xfrm>
            <a:off x="365760" y="3200400"/>
            <a:ext cx="36576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Valuation Range Summary</a:t>
            </a:r>
            <a:endParaRPr lang="en-US" sz="1100" dirty="0"/>
          </a:p>
        </p:txBody>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365760" y="3456432"/>
          <a:ext cx="3840480" cy="914400"/>
        </p:xfrm>
        <a:graphic>
          <a:graphicData uri="http://schemas.openxmlformats.org/drawingml/2006/table">
            <a:tbl>
              <a:tblPr/>
              <a:tblGrid>
                <a:gridCol w="1645920"/>
                <a:gridCol w="731520"/>
                <a:gridCol w="731520"/>
                <a:gridCol w="73152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Base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56032">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DCF — Perpetuity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€418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€555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€879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DCF — Exit Multiple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€546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€683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€841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56032">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Implied Range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€418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€619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€879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r>
            </a:tbl>
          </a:graphicData>
        </a:graphic>
      </p:graphicFrame>
      <p:sp>
        <p:nvSpPr>
          <p:cNvPr id="13" name="Text 8"/>
          <p:cNvSpPr/>
          <p:nvPr/>
        </p:nvSpPr>
        <p:spPr>
          <a:xfrm>
            <a:off x="365760" y="4526280"/>
            <a:ext cx="3840480" cy="182880"/>
          </a:xfrm>
          <a:prstGeom prst="rect">
            <a:avLst/>
          </a:prstGeom>
          <a:noFill/>
          <a:ln/>
        </p:spPr>
        <p:txBody>
          <a:bodyPr wrap="square" rtlCol="0" anchor="ctr"/>
          <a:lstStyle/>
          <a:p>
            <a:pPr indent="0" marL="0">
              <a:buNone/>
            </a:pPr>
            <a:r>
              <a:rPr lang="en-US" sz="1000" b="1" dirty="0">
                <a:solidFill>
                  <a:srgbClr val="B71C1C"/>
                </a:solidFill>
                <a:latin typeface="Calibri" pitchFamily="34" charset="0"/>
                <a:ea typeface="Calibri" pitchFamily="34" charset="-122"/>
                <a:cs typeface="Calibri" pitchFamily="34" charset="-120"/>
              </a:rPr>
              <a:t>Current Share Price: €652</a:t>
            </a:r>
            <a:endParaRPr lang="en-US" sz="1000" dirty="0"/>
          </a:p>
        </p:txBody>
      </p:sp>
      <p:sp>
        <p:nvSpPr>
          <p:cNvPr id="14" name="Shape 9"/>
          <p:cNvSpPr/>
          <p:nvPr/>
        </p:nvSpPr>
        <p:spPr>
          <a:xfrm>
            <a:off x="4754880" y="3200400"/>
            <a:ext cx="4023360" cy="155448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15" name="Shape 10"/>
          <p:cNvSpPr/>
          <p:nvPr/>
        </p:nvSpPr>
        <p:spPr>
          <a:xfrm>
            <a:off x="4754880" y="3200400"/>
            <a:ext cx="45720" cy="1554480"/>
          </a:xfrm>
          <a:prstGeom prst="rect">
            <a:avLst/>
          </a:prstGeom>
          <a:solidFill>
            <a:srgbClr val="0A2647"/>
          </a:solidFill>
          <a:ln/>
        </p:spPr>
      </p:sp>
      <p:sp>
        <p:nvSpPr>
          <p:cNvPr id="16" name="Text 11"/>
          <p:cNvSpPr/>
          <p:nvPr/>
        </p:nvSpPr>
        <p:spPr>
          <a:xfrm>
            <a:off x="4937760" y="3273552"/>
            <a:ext cx="36576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Key Takeaways</a:t>
            </a:r>
            <a:endParaRPr lang="en-US" sz="1100" dirty="0"/>
          </a:p>
        </p:txBody>
      </p:sp>
      <p:sp>
        <p:nvSpPr>
          <p:cNvPr id="17" name="Text 12"/>
          <p:cNvSpPr/>
          <p:nvPr/>
        </p:nvSpPr>
        <p:spPr>
          <a:xfrm>
            <a:off x="4937760" y="3547872"/>
            <a:ext cx="3657600" cy="1097280"/>
          </a:xfrm>
          <a:prstGeom prst="rect">
            <a:avLst/>
          </a:prstGeom>
          <a:noFill/>
          <a:ln/>
        </p:spPr>
        <p:txBody>
          <a:bodyPr wrap="square" rtlCol="0" anchor="ctr"/>
          <a:lstStyle/>
          <a:p>
            <a:pPr indent="0" marL="0">
              <a:buNone/>
            </a:pPr>
            <a:r>
              <a:rPr lang="en-US" sz="900" dirty="0">
                <a:solidFill>
                  <a:srgbClr val="4A4A4A"/>
                </a:solidFill>
                <a:latin typeface="Calibri" pitchFamily="34" charset="0"/>
                <a:ea typeface="Calibri" pitchFamily="34" charset="-122"/>
                <a:cs typeface="Calibri" pitchFamily="34" charset="-120"/>
              </a:rPr>
              <a:t>• DCF base case (avg): €619 vs. current €652</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Valuation highly sensitive to WACC assumptions</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Exit multiple method yields higher values</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Current price within reasonable range</a:t>
            </a:r>
            <a:endParaRPr lang="en-US" sz="900" dirty="0"/>
          </a:p>
          <a:p>
            <a:pPr indent="0" marL="0">
              <a:buNone/>
            </a:pPr>
            <a:r>
              <a:rPr lang="en-US" sz="900" dirty="0">
                <a:solidFill>
                  <a:srgbClr val="4A4A4A"/>
                </a:solidFill>
                <a:latin typeface="Calibri" pitchFamily="34" charset="0"/>
                <a:ea typeface="Calibri" pitchFamily="34" charset="-122"/>
                <a:cs typeface="Calibri" pitchFamily="34" charset="-120"/>
              </a:rPr>
              <a:t>• Bull case upside potential: +35% (€879)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Comparable Companies Analysis</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Trading Multiples</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sp>
        <p:nvSpPr>
          <p:cNvPr id="7" name="Text 5"/>
          <p:cNvSpPr/>
          <p:nvPr/>
        </p:nvSpPr>
        <p:spPr>
          <a:xfrm>
            <a:off x="365760" y="914400"/>
            <a:ext cx="45720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Market Data &amp; Capitalization (€mm)</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70432"/>
          <a:ext cx="8412480" cy="914400"/>
        </p:xfrm>
        <a:graphic>
          <a:graphicData uri="http://schemas.openxmlformats.org/drawingml/2006/table">
            <a:tbl>
              <a:tblPr/>
              <a:tblGrid>
                <a:gridCol w="1828800"/>
                <a:gridCol w="914400"/>
                <a:gridCol w="914400"/>
                <a:gridCol w="1280160"/>
                <a:gridCol w="1280160"/>
                <a:gridCol w="109728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Ticker</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Mkt Cap</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EV</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LTM Rev</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56032">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ASML Holding NV</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ASML-NL</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€1,216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€471,835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€469,412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€28,263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r>
              <a:tr h="256032">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KLA Corporation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KLAC</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€1,200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€157,707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€158,475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€11,243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Applied Materials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AMAT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€271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€214,839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€213,520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€24,526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9" name="Text 6"/>
          <p:cNvSpPr/>
          <p:nvPr/>
        </p:nvSpPr>
        <p:spPr>
          <a:xfrm>
            <a:off x="365760" y="2331720"/>
            <a:ext cx="45720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Trading Multiples</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365760" y="2587752"/>
          <a:ext cx="8412480" cy="914400"/>
        </p:xfrm>
        <a:graphic>
          <a:graphicData uri="http://schemas.openxmlformats.org/drawingml/2006/table">
            <a:tbl>
              <a:tblPr/>
              <a:tblGrid>
                <a:gridCol w="1828800"/>
                <a:gridCol w="1005840"/>
                <a:gridCol w="1097280"/>
                <a:gridCol w="1005840"/>
                <a:gridCol w="914400"/>
                <a:gridCol w="914400"/>
                <a:gridCol w="91440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EV/Rev</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EV/EBITDA</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EV/EBIT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P/E FY1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P/E FY2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Gross Mgn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56032">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ASML Holding NV</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16.6x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46.9x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52.0x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41.7x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32.6x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51.2%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9A227"/>
                    </a:solidFill>
                  </a:tcPr>
                </a:tc>
              </a:tr>
              <a:tr h="256032">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KLA Corporation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14.1x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31.1x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32.9x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39.1x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31.1x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61.4%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Applied Materials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8.7x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27.5x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29.0x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33.3x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26.8x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47.7%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56032">
                <a:tc>
                  <a:txBody>
                    <a:bodyPr/>
                    <a:lstStyle/>
                    <a:p>
                      <a:pPr indent="0" marL="0">
                        <a:buNone/>
                      </a:pPr>
                      <a:r>
                        <a:rPr lang="en-US" sz="900" i="1" dirty="0">
                          <a:solidFill>
                            <a:srgbClr val="4A4A4A"/>
                          </a:solidFill>
                          <a:latin typeface="Calibri" pitchFamily="34" charset="0"/>
                          <a:ea typeface="Calibri" pitchFamily="34" charset="-122"/>
                          <a:cs typeface="Calibri" pitchFamily="34" charset="-120"/>
                        </a:rPr>
                        <a:t>Peer Mean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i="1" dirty="0">
                          <a:solidFill>
                            <a:srgbClr val="4A4A4A"/>
                          </a:solidFill>
                          <a:latin typeface="Calibri" pitchFamily="34" charset="0"/>
                          <a:ea typeface="Calibri" pitchFamily="34" charset="-122"/>
                          <a:cs typeface="Calibri" pitchFamily="34" charset="-120"/>
                        </a:rPr>
                        <a:t>11.4x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i="1" dirty="0">
                          <a:solidFill>
                            <a:srgbClr val="4A4A4A"/>
                          </a:solidFill>
                          <a:latin typeface="Calibri" pitchFamily="34" charset="0"/>
                          <a:ea typeface="Calibri" pitchFamily="34" charset="-122"/>
                          <a:cs typeface="Calibri" pitchFamily="34" charset="-120"/>
                        </a:rPr>
                        <a:t>29.3x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i="1" dirty="0">
                          <a:solidFill>
                            <a:srgbClr val="4A4A4A"/>
                          </a:solidFill>
                          <a:latin typeface="Calibri" pitchFamily="34" charset="0"/>
                          <a:ea typeface="Calibri" pitchFamily="34" charset="-122"/>
                          <a:cs typeface="Calibri" pitchFamily="34" charset="-120"/>
                        </a:rPr>
                        <a:t>31.0x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i="1" dirty="0">
                          <a:solidFill>
                            <a:srgbClr val="4A4A4A"/>
                          </a:solidFill>
                          <a:latin typeface="Calibri" pitchFamily="34" charset="0"/>
                          <a:ea typeface="Calibri" pitchFamily="34" charset="-122"/>
                          <a:cs typeface="Calibri" pitchFamily="34" charset="-120"/>
                        </a:rPr>
                        <a:t>36.2x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i="1" dirty="0">
                          <a:solidFill>
                            <a:srgbClr val="4A4A4A"/>
                          </a:solidFill>
                          <a:latin typeface="Calibri" pitchFamily="34" charset="0"/>
                          <a:ea typeface="Calibri" pitchFamily="34" charset="-122"/>
                          <a:cs typeface="Calibri" pitchFamily="34" charset="-120"/>
                        </a:rPr>
                        <a:t>29.0x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i="1" dirty="0">
                          <a:solidFill>
                            <a:srgbClr val="4A4A4A"/>
                          </a:solidFill>
                          <a:latin typeface="Calibri" pitchFamily="34" charset="0"/>
                          <a:ea typeface="Calibri" pitchFamily="34" charset="-122"/>
                          <a:cs typeface="Calibri" pitchFamily="34" charset="-120"/>
                        </a:rPr>
                        <a:t>54.6%</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56032">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ASML Premium</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1B5E20"/>
                          </a:solidFill>
                          <a:latin typeface="Calibri" pitchFamily="34" charset="0"/>
                          <a:ea typeface="Calibri" pitchFamily="34" charset="-122"/>
                          <a:cs typeface="Calibri" pitchFamily="34" charset="-120"/>
                        </a:rPr>
                        <a:t>+45.7%</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1B5E20"/>
                          </a:solidFill>
                          <a:latin typeface="Calibri" pitchFamily="34" charset="0"/>
                          <a:ea typeface="Calibri" pitchFamily="34" charset="-122"/>
                          <a:cs typeface="Calibri" pitchFamily="34" charset="-120"/>
                        </a:rPr>
                        <a:t>+60.1%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1B5E20"/>
                          </a:solidFill>
                          <a:latin typeface="Calibri" pitchFamily="34" charset="0"/>
                          <a:ea typeface="Calibri" pitchFamily="34" charset="-122"/>
                          <a:cs typeface="Calibri" pitchFamily="34" charset="-120"/>
                        </a:rPr>
                        <a:t>+67.9%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1B5E20"/>
                          </a:solidFill>
                          <a:latin typeface="Calibri" pitchFamily="34" charset="0"/>
                          <a:ea typeface="Calibri" pitchFamily="34" charset="-122"/>
                          <a:cs typeface="Calibri" pitchFamily="34" charset="-120"/>
                        </a:rPr>
                        <a:t>+15.2%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1B5E20"/>
                          </a:solidFill>
                          <a:latin typeface="Calibri" pitchFamily="34" charset="0"/>
                          <a:ea typeface="Calibri" pitchFamily="34" charset="-122"/>
                          <a:cs typeface="Calibri" pitchFamily="34" charset="-120"/>
                        </a:rPr>
                        <a:t>+12.5%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B71C1C"/>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11" name="Text 7"/>
          <p:cNvSpPr/>
          <p:nvPr/>
        </p:nvSpPr>
        <p:spPr>
          <a:xfrm>
            <a:off x="365760" y="4251960"/>
            <a:ext cx="4572000" cy="228600"/>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Implied Valuation from Comparable Multiples</a:t>
            </a:r>
            <a:endParaRPr lang="en-US" sz="11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365760" y="4507992"/>
          <a:ext cx="4389120" cy="914400"/>
        </p:xfrm>
        <a:graphic>
          <a:graphicData uri="http://schemas.openxmlformats.org/drawingml/2006/table">
            <a:tbl>
              <a:tblPr/>
              <a:tblGrid>
                <a:gridCol w="2194560"/>
                <a:gridCol w="731520"/>
                <a:gridCol w="731520"/>
                <a:gridCol w="73152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Methodology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Base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c>
                  <a:txBody>
                    <a:bodyPr/>
                    <a:lstStyle/>
                    <a:p>
                      <a:pPr algn="ctr" indent="0" marL="0">
                        <a:buNone/>
                      </a:pPr>
                      <a:r>
                        <a:rPr lang="en-US" sz="900"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A2647"/>
                    </a:solidFill>
                  </a:tcPr>
                </a:tc>
              </a:tr>
              <a:tr h="237744">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EV/EBITDA (Peer Mean ± 10%)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€862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€961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€1,059</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EV/Revenue (Peer Mean ± 10%)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€908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000000"/>
                          </a:solidFill>
                          <a:latin typeface="Calibri" pitchFamily="34" charset="0"/>
                          <a:ea typeface="Calibri" pitchFamily="34" charset="-122"/>
                          <a:cs typeface="Calibri" pitchFamily="34" charset="-120"/>
                        </a:rPr>
                        <a:t>€1,010</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€1,112</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13" name="Shape 8"/>
          <p:cNvSpPr/>
          <p:nvPr/>
        </p:nvSpPr>
        <p:spPr>
          <a:xfrm>
            <a:off x="5029200" y="4251960"/>
            <a:ext cx="3749040" cy="77724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14" name="Text 9"/>
          <p:cNvSpPr/>
          <p:nvPr/>
        </p:nvSpPr>
        <p:spPr>
          <a:xfrm>
            <a:off x="5166360" y="4325112"/>
            <a:ext cx="347472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Premium Justification</a:t>
            </a:r>
            <a:endParaRPr lang="en-US" sz="1000" dirty="0"/>
          </a:p>
        </p:txBody>
      </p:sp>
      <p:sp>
        <p:nvSpPr>
          <p:cNvPr id="15" name="Text 10"/>
          <p:cNvSpPr/>
          <p:nvPr/>
        </p:nvSpPr>
        <p:spPr>
          <a:xfrm>
            <a:off x="5166360" y="4544568"/>
            <a:ext cx="3474720" cy="438912"/>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ASML's premium is justified by its 100% EUV monopoly, essential role in AI chip manufacturing, and irreplaceable position in the semiconductor supply chain.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Valuation Football Field</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Implied Share Price Range (€)</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sp>
        <p:nvSpPr>
          <p:cNvPr id="7" name="Shape 5"/>
          <p:cNvSpPr/>
          <p:nvPr/>
        </p:nvSpPr>
        <p:spPr>
          <a:xfrm>
            <a:off x="1371600" y="1051560"/>
            <a:ext cx="0" cy="2743200"/>
          </a:xfrm>
          <a:prstGeom prst="line">
            <a:avLst/>
          </a:prstGeom>
          <a:noFill/>
          <a:ln w="6350">
            <a:solidFill>
              <a:srgbClr val="E0E0E0"/>
            </a:solidFill>
            <a:prstDash val="dash"/>
          </a:ln>
        </p:spPr>
      </p:sp>
      <p:sp>
        <p:nvSpPr>
          <p:cNvPr id="8" name="Text 6"/>
          <p:cNvSpPr/>
          <p:nvPr/>
        </p:nvSpPr>
        <p:spPr>
          <a:xfrm>
            <a:off x="10972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€400</a:t>
            </a:r>
            <a:endParaRPr lang="en-US" sz="800" dirty="0"/>
          </a:p>
        </p:txBody>
      </p:sp>
      <p:sp>
        <p:nvSpPr>
          <p:cNvPr id="9" name="Shape 7"/>
          <p:cNvSpPr/>
          <p:nvPr/>
        </p:nvSpPr>
        <p:spPr>
          <a:xfrm>
            <a:off x="2286000" y="1051560"/>
            <a:ext cx="0" cy="2743200"/>
          </a:xfrm>
          <a:prstGeom prst="line">
            <a:avLst/>
          </a:prstGeom>
          <a:noFill/>
          <a:ln w="6350">
            <a:solidFill>
              <a:srgbClr val="E0E0E0"/>
            </a:solidFill>
            <a:prstDash val="dash"/>
          </a:ln>
        </p:spPr>
      </p:sp>
      <p:sp>
        <p:nvSpPr>
          <p:cNvPr id="10" name="Text 8"/>
          <p:cNvSpPr/>
          <p:nvPr/>
        </p:nvSpPr>
        <p:spPr>
          <a:xfrm>
            <a:off x="20116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€500</a:t>
            </a:r>
            <a:endParaRPr lang="en-US" sz="800" dirty="0"/>
          </a:p>
        </p:txBody>
      </p:sp>
      <p:sp>
        <p:nvSpPr>
          <p:cNvPr id="11" name="Shape 9"/>
          <p:cNvSpPr/>
          <p:nvPr/>
        </p:nvSpPr>
        <p:spPr>
          <a:xfrm>
            <a:off x="3200400" y="1051560"/>
            <a:ext cx="0" cy="2743200"/>
          </a:xfrm>
          <a:prstGeom prst="line">
            <a:avLst/>
          </a:prstGeom>
          <a:noFill/>
          <a:ln w="6350">
            <a:solidFill>
              <a:srgbClr val="E0E0E0"/>
            </a:solidFill>
            <a:prstDash val="dash"/>
          </a:ln>
        </p:spPr>
      </p:sp>
      <p:sp>
        <p:nvSpPr>
          <p:cNvPr id="12" name="Text 10"/>
          <p:cNvSpPr/>
          <p:nvPr/>
        </p:nvSpPr>
        <p:spPr>
          <a:xfrm>
            <a:off x="29260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€600</a:t>
            </a:r>
            <a:endParaRPr lang="en-US" sz="800" dirty="0"/>
          </a:p>
        </p:txBody>
      </p:sp>
      <p:sp>
        <p:nvSpPr>
          <p:cNvPr id="13" name="Shape 11"/>
          <p:cNvSpPr/>
          <p:nvPr/>
        </p:nvSpPr>
        <p:spPr>
          <a:xfrm>
            <a:off x="4114800" y="1051560"/>
            <a:ext cx="0" cy="2743200"/>
          </a:xfrm>
          <a:prstGeom prst="line">
            <a:avLst/>
          </a:prstGeom>
          <a:noFill/>
          <a:ln w="6350">
            <a:solidFill>
              <a:srgbClr val="E0E0E0"/>
            </a:solidFill>
            <a:prstDash val="dash"/>
          </a:ln>
        </p:spPr>
      </p:sp>
      <p:sp>
        <p:nvSpPr>
          <p:cNvPr id="14" name="Text 12"/>
          <p:cNvSpPr/>
          <p:nvPr/>
        </p:nvSpPr>
        <p:spPr>
          <a:xfrm>
            <a:off x="38404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€700</a:t>
            </a:r>
            <a:endParaRPr lang="en-US" sz="800" dirty="0"/>
          </a:p>
        </p:txBody>
      </p:sp>
      <p:sp>
        <p:nvSpPr>
          <p:cNvPr id="15" name="Shape 13"/>
          <p:cNvSpPr/>
          <p:nvPr/>
        </p:nvSpPr>
        <p:spPr>
          <a:xfrm>
            <a:off x="5029200" y="1051560"/>
            <a:ext cx="0" cy="2743200"/>
          </a:xfrm>
          <a:prstGeom prst="line">
            <a:avLst/>
          </a:prstGeom>
          <a:noFill/>
          <a:ln w="6350">
            <a:solidFill>
              <a:srgbClr val="E0E0E0"/>
            </a:solidFill>
            <a:prstDash val="dash"/>
          </a:ln>
        </p:spPr>
      </p:sp>
      <p:sp>
        <p:nvSpPr>
          <p:cNvPr id="16" name="Text 14"/>
          <p:cNvSpPr/>
          <p:nvPr/>
        </p:nvSpPr>
        <p:spPr>
          <a:xfrm>
            <a:off x="47548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€800</a:t>
            </a:r>
            <a:endParaRPr lang="en-US" sz="800" dirty="0"/>
          </a:p>
        </p:txBody>
      </p:sp>
      <p:sp>
        <p:nvSpPr>
          <p:cNvPr id="17" name="Shape 15"/>
          <p:cNvSpPr/>
          <p:nvPr/>
        </p:nvSpPr>
        <p:spPr>
          <a:xfrm>
            <a:off x="5943600" y="1051560"/>
            <a:ext cx="0" cy="2743200"/>
          </a:xfrm>
          <a:prstGeom prst="line">
            <a:avLst/>
          </a:prstGeom>
          <a:noFill/>
          <a:ln w="6350">
            <a:solidFill>
              <a:srgbClr val="E0E0E0"/>
            </a:solidFill>
            <a:prstDash val="dash"/>
          </a:ln>
        </p:spPr>
      </p:sp>
      <p:sp>
        <p:nvSpPr>
          <p:cNvPr id="18" name="Text 16"/>
          <p:cNvSpPr/>
          <p:nvPr/>
        </p:nvSpPr>
        <p:spPr>
          <a:xfrm>
            <a:off x="56692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€900</a:t>
            </a:r>
            <a:endParaRPr lang="en-US" sz="800" dirty="0"/>
          </a:p>
        </p:txBody>
      </p:sp>
      <p:sp>
        <p:nvSpPr>
          <p:cNvPr id="19" name="Shape 17"/>
          <p:cNvSpPr/>
          <p:nvPr/>
        </p:nvSpPr>
        <p:spPr>
          <a:xfrm>
            <a:off x="6858000" y="1051560"/>
            <a:ext cx="0" cy="2743200"/>
          </a:xfrm>
          <a:prstGeom prst="line">
            <a:avLst/>
          </a:prstGeom>
          <a:noFill/>
          <a:ln w="6350">
            <a:solidFill>
              <a:srgbClr val="E0E0E0"/>
            </a:solidFill>
            <a:prstDash val="dash"/>
          </a:ln>
        </p:spPr>
      </p:sp>
      <p:sp>
        <p:nvSpPr>
          <p:cNvPr id="20" name="Text 18"/>
          <p:cNvSpPr/>
          <p:nvPr/>
        </p:nvSpPr>
        <p:spPr>
          <a:xfrm>
            <a:off x="65836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€1000</a:t>
            </a:r>
            <a:endParaRPr lang="en-US" sz="800" dirty="0"/>
          </a:p>
        </p:txBody>
      </p:sp>
      <p:sp>
        <p:nvSpPr>
          <p:cNvPr id="21" name="Shape 19"/>
          <p:cNvSpPr/>
          <p:nvPr/>
        </p:nvSpPr>
        <p:spPr>
          <a:xfrm>
            <a:off x="7772400" y="1051560"/>
            <a:ext cx="0" cy="2743200"/>
          </a:xfrm>
          <a:prstGeom prst="line">
            <a:avLst/>
          </a:prstGeom>
          <a:noFill/>
          <a:ln w="6350">
            <a:solidFill>
              <a:srgbClr val="E0E0E0"/>
            </a:solidFill>
            <a:prstDash val="dash"/>
          </a:ln>
        </p:spPr>
      </p:sp>
      <p:sp>
        <p:nvSpPr>
          <p:cNvPr id="22" name="Text 20"/>
          <p:cNvSpPr/>
          <p:nvPr/>
        </p:nvSpPr>
        <p:spPr>
          <a:xfrm>
            <a:off x="7498080" y="3840480"/>
            <a:ext cx="548640" cy="164592"/>
          </a:xfrm>
          <a:prstGeom prst="rect">
            <a:avLst/>
          </a:prstGeom>
          <a:noFill/>
          <a:ln/>
        </p:spPr>
        <p:txBody>
          <a:bodyPr wrap="square" rtlCol="0" anchor="ctr"/>
          <a:lstStyle/>
          <a:p>
            <a:pPr algn="ctr" indent="0" marL="0">
              <a:buNone/>
            </a:pPr>
            <a:r>
              <a:rPr lang="en-US" sz="800" dirty="0">
                <a:solidFill>
                  <a:srgbClr val="4A4A4A"/>
                </a:solidFill>
                <a:latin typeface="Calibri" pitchFamily="34" charset="0"/>
                <a:ea typeface="Calibri" pitchFamily="34" charset="-122"/>
                <a:cs typeface="Calibri" pitchFamily="34" charset="-120"/>
              </a:rPr>
              <a:t>€1100</a:t>
            </a:r>
            <a:endParaRPr lang="en-US" sz="800" dirty="0"/>
          </a:p>
        </p:txBody>
      </p:sp>
      <p:sp>
        <p:nvSpPr>
          <p:cNvPr id="23" name="Text 21"/>
          <p:cNvSpPr/>
          <p:nvPr/>
        </p:nvSpPr>
        <p:spPr>
          <a:xfrm>
            <a:off x="137160" y="1280160"/>
            <a:ext cx="1234440" cy="457200"/>
          </a:xfrm>
          <a:prstGeom prst="rect">
            <a:avLst/>
          </a:prstGeom>
          <a:noFill/>
          <a:ln/>
        </p:spPr>
        <p:txBody>
          <a:bodyPr wrap="square" rtlCol="0" anchor="ctr"/>
          <a:lstStyle/>
          <a:p>
            <a:pPr indent="0" marL="0">
              <a:buNone/>
            </a:pPr>
            <a:r>
              <a:rPr lang="en-US" sz="900" b="1" dirty="0">
                <a:solidFill>
                  <a:srgbClr val="0A2647"/>
                </a:solidFill>
                <a:latin typeface="Calibri" pitchFamily="34" charset="0"/>
                <a:ea typeface="Calibri" pitchFamily="34" charset="-122"/>
                <a:cs typeface="Calibri" pitchFamily="34" charset="-120"/>
              </a:rPr>
              <a:t>DCF — Perpetuity Growth</a:t>
            </a:r>
            <a:endParaRPr lang="en-US" sz="900" dirty="0"/>
          </a:p>
        </p:txBody>
      </p:sp>
      <p:sp>
        <p:nvSpPr>
          <p:cNvPr id="24" name="Shape 22"/>
          <p:cNvSpPr/>
          <p:nvPr/>
        </p:nvSpPr>
        <p:spPr>
          <a:xfrm>
            <a:off x="1539850" y="1371600"/>
            <a:ext cx="4211178" cy="320040"/>
          </a:xfrm>
          <a:prstGeom prst="rect">
            <a:avLst/>
          </a:prstGeom>
          <a:solidFill>
            <a:srgbClr val="0A2647"/>
          </a:solidFill>
          <a:ln/>
        </p:spPr>
      </p:sp>
      <p:sp>
        <p:nvSpPr>
          <p:cNvPr id="25" name="Shape 23"/>
          <p:cNvSpPr/>
          <p:nvPr/>
        </p:nvSpPr>
        <p:spPr>
          <a:xfrm>
            <a:off x="2713848" y="1444752"/>
            <a:ext cx="146304" cy="182880"/>
          </a:xfrm>
          <a:prstGeom prst="ellipse">
            <a:avLst/>
          </a:prstGeom>
          <a:solidFill>
            <a:srgbClr val="C9A227"/>
          </a:solidFill>
          <a:ln/>
        </p:spPr>
      </p:sp>
      <p:sp>
        <p:nvSpPr>
          <p:cNvPr id="26" name="Text 24"/>
          <p:cNvSpPr/>
          <p:nvPr/>
        </p:nvSpPr>
        <p:spPr>
          <a:xfrm>
            <a:off x="1192378" y="1389888"/>
            <a:ext cx="347472" cy="274320"/>
          </a:xfrm>
          <a:prstGeom prst="rect">
            <a:avLst/>
          </a:prstGeom>
          <a:noFill/>
          <a:ln/>
        </p:spPr>
        <p:txBody>
          <a:bodyPr wrap="square" rtlCol="0" anchor="ctr"/>
          <a:lstStyle/>
          <a:p>
            <a:pPr algn="r" indent="0" marL="0">
              <a:buNone/>
            </a:pPr>
            <a:r>
              <a:rPr lang="en-US" sz="700" dirty="0">
                <a:solidFill>
                  <a:srgbClr val="4A4A4A"/>
                </a:solidFill>
                <a:latin typeface="Calibri" pitchFamily="34" charset="0"/>
                <a:ea typeface="Calibri" pitchFamily="34" charset="-122"/>
                <a:cs typeface="Calibri" pitchFamily="34" charset="-120"/>
              </a:rPr>
              <a:t>€418</a:t>
            </a:r>
            <a:endParaRPr lang="en-US" sz="700" dirty="0"/>
          </a:p>
        </p:txBody>
      </p:sp>
      <p:sp>
        <p:nvSpPr>
          <p:cNvPr id="27" name="Text 25"/>
          <p:cNvSpPr/>
          <p:nvPr/>
        </p:nvSpPr>
        <p:spPr>
          <a:xfrm>
            <a:off x="5769315" y="1389888"/>
            <a:ext cx="365760" cy="274320"/>
          </a:xfrm>
          <a:prstGeom prst="rect">
            <a:avLst/>
          </a:prstGeom>
          <a:noFill/>
          <a:ln/>
        </p:spPr>
        <p:txBody>
          <a:bodyPr wrap="square" rtlCol="0" anchor="ctr"/>
          <a:lstStyle/>
          <a:p>
            <a:pPr indent="0" marL="0">
              <a:buNone/>
            </a:pPr>
            <a:r>
              <a:rPr lang="en-US" sz="700" dirty="0">
                <a:solidFill>
                  <a:srgbClr val="4A4A4A"/>
                </a:solidFill>
                <a:latin typeface="Calibri" pitchFamily="34" charset="0"/>
                <a:ea typeface="Calibri" pitchFamily="34" charset="-122"/>
                <a:cs typeface="Calibri" pitchFamily="34" charset="-120"/>
              </a:rPr>
              <a:t>€879</a:t>
            </a:r>
            <a:endParaRPr lang="en-US" sz="700" dirty="0"/>
          </a:p>
        </p:txBody>
      </p:sp>
      <p:sp>
        <p:nvSpPr>
          <p:cNvPr id="28" name="Text 26"/>
          <p:cNvSpPr/>
          <p:nvPr/>
        </p:nvSpPr>
        <p:spPr>
          <a:xfrm>
            <a:off x="137160" y="1920240"/>
            <a:ext cx="1234440" cy="457200"/>
          </a:xfrm>
          <a:prstGeom prst="rect">
            <a:avLst/>
          </a:prstGeom>
          <a:noFill/>
          <a:ln/>
        </p:spPr>
        <p:txBody>
          <a:bodyPr wrap="square" rtlCol="0" anchor="ctr"/>
          <a:lstStyle/>
          <a:p>
            <a:pPr indent="0" marL="0">
              <a:buNone/>
            </a:pPr>
            <a:r>
              <a:rPr lang="en-US" sz="900" b="1" dirty="0">
                <a:solidFill>
                  <a:srgbClr val="0A2647"/>
                </a:solidFill>
                <a:latin typeface="Calibri" pitchFamily="34" charset="0"/>
                <a:ea typeface="Calibri" pitchFamily="34" charset="-122"/>
                <a:cs typeface="Calibri" pitchFamily="34" charset="-120"/>
              </a:rPr>
              <a:t>DCF — Exit Multiple</a:t>
            </a:r>
            <a:endParaRPr lang="en-US" sz="900" dirty="0"/>
          </a:p>
        </p:txBody>
      </p:sp>
      <p:sp>
        <p:nvSpPr>
          <p:cNvPr id="29" name="Shape 27"/>
          <p:cNvSpPr/>
          <p:nvPr/>
        </p:nvSpPr>
        <p:spPr>
          <a:xfrm>
            <a:off x="2710739" y="2011680"/>
            <a:ext cx="2693274" cy="320040"/>
          </a:xfrm>
          <a:prstGeom prst="rect">
            <a:avLst/>
          </a:prstGeom>
          <a:solidFill>
            <a:srgbClr val="0A2647"/>
          </a:solidFill>
          <a:ln/>
        </p:spPr>
      </p:sp>
      <p:sp>
        <p:nvSpPr>
          <p:cNvPr id="30" name="Shape 28"/>
          <p:cNvSpPr/>
          <p:nvPr/>
        </p:nvSpPr>
        <p:spPr>
          <a:xfrm>
            <a:off x="3886657" y="2084832"/>
            <a:ext cx="146304" cy="182880"/>
          </a:xfrm>
          <a:prstGeom prst="ellipse">
            <a:avLst/>
          </a:prstGeom>
          <a:solidFill>
            <a:srgbClr val="C9A227"/>
          </a:solidFill>
          <a:ln/>
        </p:spPr>
      </p:sp>
      <p:sp>
        <p:nvSpPr>
          <p:cNvPr id="31" name="Text 29"/>
          <p:cNvSpPr/>
          <p:nvPr/>
        </p:nvSpPr>
        <p:spPr>
          <a:xfrm>
            <a:off x="2363267" y="2029968"/>
            <a:ext cx="347472" cy="274320"/>
          </a:xfrm>
          <a:prstGeom prst="rect">
            <a:avLst/>
          </a:prstGeom>
          <a:noFill/>
          <a:ln/>
        </p:spPr>
        <p:txBody>
          <a:bodyPr wrap="square" rtlCol="0" anchor="ctr"/>
          <a:lstStyle/>
          <a:p>
            <a:pPr algn="r" indent="0" marL="0">
              <a:buNone/>
            </a:pPr>
            <a:r>
              <a:rPr lang="en-US" sz="700" dirty="0">
                <a:solidFill>
                  <a:srgbClr val="4A4A4A"/>
                </a:solidFill>
                <a:latin typeface="Calibri" pitchFamily="34" charset="0"/>
                <a:ea typeface="Calibri" pitchFamily="34" charset="-122"/>
                <a:cs typeface="Calibri" pitchFamily="34" charset="-120"/>
              </a:rPr>
              <a:t>€546</a:t>
            </a:r>
            <a:endParaRPr lang="en-US" sz="700" dirty="0"/>
          </a:p>
        </p:txBody>
      </p:sp>
      <p:sp>
        <p:nvSpPr>
          <p:cNvPr id="32" name="Text 30"/>
          <p:cNvSpPr/>
          <p:nvPr/>
        </p:nvSpPr>
        <p:spPr>
          <a:xfrm>
            <a:off x="5422301" y="2029968"/>
            <a:ext cx="365760" cy="274320"/>
          </a:xfrm>
          <a:prstGeom prst="rect">
            <a:avLst/>
          </a:prstGeom>
          <a:noFill/>
          <a:ln/>
        </p:spPr>
        <p:txBody>
          <a:bodyPr wrap="square" rtlCol="0" anchor="ctr"/>
          <a:lstStyle/>
          <a:p>
            <a:pPr indent="0" marL="0">
              <a:buNone/>
            </a:pPr>
            <a:r>
              <a:rPr lang="en-US" sz="700" dirty="0">
                <a:solidFill>
                  <a:srgbClr val="4A4A4A"/>
                </a:solidFill>
                <a:latin typeface="Calibri" pitchFamily="34" charset="0"/>
                <a:ea typeface="Calibri" pitchFamily="34" charset="-122"/>
                <a:cs typeface="Calibri" pitchFamily="34" charset="-120"/>
              </a:rPr>
              <a:t>€841</a:t>
            </a:r>
            <a:endParaRPr lang="en-US" sz="700" dirty="0"/>
          </a:p>
        </p:txBody>
      </p:sp>
      <p:sp>
        <p:nvSpPr>
          <p:cNvPr id="33" name="Text 31"/>
          <p:cNvSpPr/>
          <p:nvPr/>
        </p:nvSpPr>
        <p:spPr>
          <a:xfrm>
            <a:off x="137160" y="2560320"/>
            <a:ext cx="1234440" cy="457200"/>
          </a:xfrm>
          <a:prstGeom prst="rect">
            <a:avLst/>
          </a:prstGeom>
          <a:noFill/>
          <a:ln/>
        </p:spPr>
        <p:txBody>
          <a:bodyPr wrap="square" rtlCol="0" anchor="ctr"/>
          <a:lstStyle/>
          <a:p>
            <a:pPr indent="0" marL="0">
              <a:buNone/>
            </a:pPr>
            <a:r>
              <a:rPr lang="en-US" sz="900" b="1" dirty="0">
                <a:solidFill>
                  <a:srgbClr val="0A2647"/>
                </a:solidFill>
                <a:latin typeface="Calibri" pitchFamily="34" charset="0"/>
                <a:ea typeface="Calibri" pitchFamily="34" charset="-122"/>
                <a:cs typeface="Calibri" pitchFamily="34" charset="-120"/>
              </a:rPr>
              <a:t>Comps — EV/EBITDA</a:t>
            </a:r>
            <a:endParaRPr lang="en-US" sz="900" dirty="0"/>
          </a:p>
        </p:txBody>
      </p:sp>
      <p:sp>
        <p:nvSpPr>
          <p:cNvPr id="34" name="Shape 32"/>
          <p:cNvSpPr/>
          <p:nvPr/>
        </p:nvSpPr>
        <p:spPr>
          <a:xfrm>
            <a:off x="5598597" y="2651760"/>
            <a:ext cx="1800636" cy="320040"/>
          </a:xfrm>
          <a:prstGeom prst="rect">
            <a:avLst/>
          </a:prstGeom>
          <a:solidFill>
            <a:srgbClr val="0A2647"/>
          </a:solidFill>
          <a:ln/>
        </p:spPr>
      </p:sp>
      <p:sp>
        <p:nvSpPr>
          <p:cNvPr id="35" name="Shape 33"/>
          <p:cNvSpPr/>
          <p:nvPr/>
        </p:nvSpPr>
        <p:spPr>
          <a:xfrm>
            <a:off x="6425763" y="2724912"/>
            <a:ext cx="146304" cy="182880"/>
          </a:xfrm>
          <a:prstGeom prst="ellipse">
            <a:avLst/>
          </a:prstGeom>
          <a:solidFill>
            <a:srgbClr val="C9A227"/>
          </a:solidFill>
          <a:ln/>
        </p:spPr>
      </p:sp>
      <p:sp>
        <p:nvSpPr>
          <p:cNvPr id="36" name="Text 34"/>
          <p:cNvSpPr/>
          <p:nvPr/>
        </p:nvSpPr>
        <p:spPr>
          <a:xfrm>
            <a:off x="5251125" y="2670048"/>
            <a:ext cx="347472" cy="274320"/>
          </a:xfrm>
          <a:prstGeom prst="rect">
            <a:avLst/>
          </a:prstGeom>
          <a:noFill/>
          <a:ln/>
        </p:spPr>
        <p:txBody>
          <a:bodyPr wrap="square" rtlCol="0" anchor="ctr"/>
          <a:lstStyle/>
          <a:p>
            <a:pPr algn="r" indent="0" marL="0">
              <a:buNone/>
            </a:pPr>
            <a:r>
              <a:rPr lang="en-US" sz="700" dirty="0">
                <a:solidFill>
                  <a:srgbClr val="4A4A4A"/>
                </a:solidFill>
                <a:latin typeface="Calibri" pitchFamily="34" charset="0"/>
                <a:ea typeface="Calibri" pitchFamily="34" charset="-122"/>
                <a:cs typeface="Calibri" pitchFamily="34" charset="-120"/>
              </a:rPr>
              <a:t>€862</a:t>
            </a:r>
            <a:endParaRPr lang="en-US" sz="700" dirty="0"/>
          </a:p>
        </p:txBody>
      </p:sp>
      <p:sp>
        <p:nvSpPr>
          <p:cNvPr id="37" name="Text 35"/>
          <p:cNvSpPr/>
          <p:nvPr/>
        </p:nvSpPr>
        <p:spPr>
          <a:xfrm>
            <a:off x="7417521" y="2670048"/>
            <a:ext cx="365760" cy="274320"/>
          </a:xfrm>
          <a:prstGeom prst="rect">
            <a:avLst/>
          </a:prstGeom>
          <a:noFill/>
          <a:ln/>
        </p:spPr>
        <p:txBody>
          <a:bodyPr wrap="square" rtlCol="0" anchor="ctr"/>
          <a:lstStyle/>
          <a:p>
            <a:pPr indent="0" marL="0">
              <a:buNone/>
            </a:pPr>
            <a:r>
              <a:rPr lang="en-US" sz="700" dirty="0">
                <a:solidFill>
                  <a:srgbClr val="4A4A4A"/>
                </a:solidFill>
                <a:latin typeface="Calibri" pitchFamily="34" charset="0"/>
                <a:ea typeface="Calibri" pitchFamily="34" charset="-122"/>
                <a:cs typeface="Calibri" pitchFamily="34" charset="-120"/>
              </a:rPr>
              <a:t>€1059</a:t>
            </a:r>
            <a:endParaRPr lang="en-US" sz="700" dirty="0"/>
          </a:p>
        </p:txBody>
      </p:sp>
      <p:sp>
        <p:nvSpPr>
          <p:cNvPr id="38" name="Text 36"/>
          <p:cNvSpPr/>
          <p:nvPr/>
        </p:nvSpPr>
        <p:spPr>
          <a:xfrm>
            <a:off x="137160" y="3200400"/>
            <a:ext cx="1234440" cy="457200"/>
          </a:xfrm>
          <a:prstGeom prst="rect">
            <a:avLst/>
          </a:prstGeom>
          <a:noFill/>
          <a:ln/>
        </p:spPr>
        <p:txBody>
          <a:bodyPr wrap="square" rtlCol="0" anchor="ctr"/>
          <a:lstStyle/>
          <a:p>
            <a:pPr indent="0" marL="0">
              <a:buNone/>
            </a:pPr>
            <a:r>
              <a:rPr lang="en-US" sz="900" b="1" dirty="0">
                <a:solidFill>
                  <a:srgbClr val="0A2647"/>
                </a:solidFill>
                <a:latin typeface="Calibri" pitchFamily="34" charset="0"/>
                <a:ea typeface="Calibri" pitchFamily="34" charset="-122"/>
                <a:cs typeface="Calibri" pitchFamily="34" charset="-120"/>
              </a:rPr>
              <a:t>Comps — EV/Revenue</a:t>
            </a:r>
            <a:endParaRPr lang="en-US" sz="900" dirty="0"/>
          </a:p>
        </p:txBody>
      </p:sp>
      <p:sp>
        <p:nvSpPr>
          <p:cNvPr id="39" name="Shape 37"/>
          <p:cNvSpPr/>
          <p:nvPr/>
        </p:nvSpPr>
        <p:spPr>
          <a:xfrm>
            <a:off x="6012820" y="3291840"/>
            <a:ext cx="1865102" cy="320040"/>
          </a:xfrm>
          <a:prstGeom prst="rect">
            <a:avLst/>
          </a:prstGeom>
          <a:solidFill>
            <a:srgbClr val="0A2647"/>
          </a:solidFill>
          <a:ln/>
        </p:spPr>
      </p:sp>
      <p:sp>
        <p:nvSpPr>
          <p:cNvPr id="40" name="Shape 38"/>
          <p:cNvSpPr/>
          <p:nvPr/>
        </p:nvSpPr>
        <p:spPr>
          <a:xfrm>
            <a:off x="6872265" y="3364992"/>
            <a:ext cx="146304" cy="182880"/>
          </a:xfrm>
          <a:prstGeom prst="ellipse">
            <a:avLst/>
          </a:prstGeom>
          <a:solidFill>
            <a:srgbClr val="C9A227"/>
          </a:solidFill>
          <a:ln/>
        </p:spPr>
      </p:sp>
      <p:sp>
        <p:nvSpPr>
          <p:cNvPr id="41" name="Text 39"/>
          <p:cNvSpPr/>
          <p:nvPr/>
        </p:nvSpPr>
        <p:spPr>
          <a:xfrm>
            <a:off x="5665348" y="3310128"/>
            <a:ext cx="347472" cy="274320"/>
          </a:xfrm>
          <a:prstGeom prst="rect">
            <a:avLst/>
          </a:prstGeom>
          <a:noFill/>
          <a:ln/>
        </p:spPr>
        <p:txBody>
          <a:bodyPr wrap="square" rtlCol="0" anchor="ctr"/>
          <a:lstStyle/>
          <a:p>
            <a:pPr algn="r" indent="0" marL="0">
              <a:buNone/>
            </a:pPr>
            <a:r>
              <a:rPr lang="en-US" sz="700" dirty="0">
                <a:solidFill>
                  <a:srgbClr val="4A4A4A"/>
                </a:solidFill>
                <a:latin typeface="Calibri" pitchFamily="34" charset="0"/>
                <a:ea typeface="Calibri" pitchFamily="34" charset="-122"/>
                <a:cs typeface="Calibri" pitchFamily="34" charset="-120"/>
              </a:rPr>
              <a:t>€908</a:t>
            </a:r>
            <a:endParaRPr lang="en-US" sz="700" dirty="0"/>
          </a:p>
        </p:txBody>
      </p:sp>
      <p:sp>
        <p:nvSpPr>
          <p:cNvPr id="42" name="Text 40"/>
          <p:cNvSpPr/>
          <p:nvPr/>
        </p:nvSpPr>
        <p:spPr>
          <a:xfrm>
            <a:off x="7896210" y="3310128"/>
            <a:ext cx="365760" cy="274320"/>
          </a:xfrm>
          <a:prstGeom prst="rect">
            <a:avLst/>
          </a:prstGeom>
          <a:noFill/>
          <a:ln/>
        </p:spPr>
        <p:txBody>
          <a:bodyPr wrap="square" rtlCol="0" anchor="ctr"/>
          <a:lstStyle/>
          <a:p>
            <a:pPr indent="0" marL="0">
              <a:buNone/>
            </a:pPr>
            <a:r>
              <a:rPr lang="en-US" sz="700" dirty="0">
                <a:solidFill>
                  <a:srgbClr val="4A4A4A"/>
                </a:solidFill>
                <a:latin typeface="Calibri" pitchFamily="34" charset="0"/>
                <a:ea typeface="Calibri" pitchFamily="34" charset="-122"/>
                <a:cs typeface="Calibri" pitchFamily="34" charset="-120"/>
              </a:rPr>
              <a:t>€1112</a:t>
            </a:r>
            <a:endParaRPr lang="en-US" sz="700" dirty="0"/>
          </a:p>
        </p:txBody>
      </p:sp>
      <p:sp>
        <p:nvSpPr>
          <p:cNvPr id="43" name="Shape 41"/>
          <p:cNvSpPr/>
          <p:nvPr/>
        </p:nvSpPr>
        <p:spPr>
          <a:xfrm>
            <a:off x="3675888" y="1051560"/>
            <a:ext cx="0" cy="2743200"/>
          </a:xfrm>
          <a:prstGeom prst="line">
            <a:avLst/>
          </a:prstGeom>
          <a:noFill/>
          <a:ln w="25400">
            <a:solidFill>
              <a:srgbClr val="B71C1C"/>
            </a:solidFill>
            <a:prstDash val="solid"/>
          </a:ln>
        </p:spPr>
      </p:sp>
      <p:sp>
        <p:nvSpPr>
          <p:cNvPr id="44" name="Text 42"/>
          <p:cNvSpPr/>
          <p:nvPr/>
        </p:nvSpPr>
        <p:spPr>
          <a:xfrm>
            <a:off x="3218688" y="850392"/>
            <a:ext cx="914400" cy="182880"/>
          </a:xfrm>
          <a:prstGeom prst="rect">
            <a:avLst/>
          </a:prstGeom>
          <a:noFill/>
          <a:ln/>
        </p:spPr>
        <p:txBody>
          <a:bodyPr wrap="square" rtlCol="0" anchor="ctr"/>
          <a:lstStyle/>
          <a:p>
            <a:pPr algn="ctr" indent="0" marL="0">
              <a:buNone/>
            </a:pPr>
            <a:r>
              <a:rPr lang="en-US" sz="900" b="1" dirty="0">
                <a:solidFill>
                  <a:srgbClr val="B71C1C"/>
                </a:solidFill>
                <a:latin typeface="Calibri" pitchFamily="34" charset="0"/>
                <a:ea typeface="Calibri" pitchFamily="34" charset="-122"/>
                <a:cs typeface="Calibri" pitchFamily="34" charset="-120"/>
              </a:rPr>
              <a:t>Current: €652</a:t>
            </a:r>
            <a:endParaRPr lang="en-US" sz="900" dirty="0"/>
          </a:p>
        </p:txBody>
      </p:sp>
      <p:sp>
        <p:nvSpPr>
          <p:cNvPr id="45" name="Shape 43"/>
          <p:cNvSpPr/>
          <p:nvPr/>
        </p:nvSpPr>
        <p:spPr>
          <a:xfrm>
            <a:off x="365760" y="4069080"/>
            <a:ext cx="6217920" cy="77724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46" name="Shape 44"/>
          <p:cNvSpPr/>
          <p:nvPr/>
        </p:nvSpPr>
        <p:spPr>
          <a:xfrm>
            <a:off x="365760" y="4069080"/>
            <a:ext cx="45720" cy="777240"/>
          </a:xfrm>
          <a:prstGeom prst="rect">
            <a:avLst/>
          </a:prstGeom>
          <a:solidFill>
            <a:srgbClr val="1B5E20"/>
          </a:solidFill>
          <a:ln/>
        </p:spPr>
      </p:sp>
      <p:sp>
        <p:nvSpPr>
          <p:cNvPr id="47" name="Text 45"/>
          <p:cNvSpPr/>
          <p:nvPr/>
        </p:nvSpPr>
        <p:spPr>
          <a:xfrm>
            <a:off x="548640" y="4133088"/>
            <a:ext cx="2286000" cy="201168"/>
          </a:xfrm>
          <a:prstGeom prst="rect">
            <a:avLst/>
          </a:prstGeom>
          <a:noFill/>
          <a:ln/>
        </p:spPr>
        <p:txBody>
          <a:bodyPr wrap="square" rtlCol="0" anchor="ctr"/>
          <a:lstStyle/>
          <a:p>
            <a:pPr indent="0" marL="0">
              <a:buNone/>
            </a:pPr>
            <a:r>
              <a:rPr lang="en-US" sz="1100" b="1" dirty="0">
                <a:solidFill>
                  <a:srgbClr val="0A2647"/>
                </a:solidFill>
                <a:latin typeface="Calibri" pitchFamily="34" charset="0"/>
                <a:ea typeface="Calibri" pitchFamily="34" charset="-122"/>
                <a:cs typeface="Calibri" pitchFamily="34" charset="-120"/>
              </a:rPr>
              <a:t>Valuation Conclusion</a:t>
            </a:r>
            <a:endParaRPr lang="en-US" sz="1100" dirty="0"/>
          </a:p>
        </p:txBody>
      </p:sp>
      <p:sp>
        <p:nvSpPr>
          <p:cNvPr id="48" name="Text 46"/>
          <p:cNvSpPr/>
          <p:nvPr/>
        </p:nvSpPr>
        <p:spPr>
          <a:xfrm>
            <a:off x="548640" y="4370832"/>
            <a:ext cx="5852160" cy="182880"/>
          </a:xfrm>
          <a:prstGeom prst="rect">
            <a:avLst/>
          </a:prstGeom>
          <a:noFill/>
          <a:ln/>
        </p:spPr>
        <p:txBody>
          <a:bodyPr wrap="square" rtlCol="0" anchor="ctr"/>
          <a:lstStyle/>
          <a:p>
            <a:pPr indent="0" marL="0">
              <a:buNone/>
            </a:pPr>
            <a:r>
              <a:rPr lang="en-US" sz="1000" b="1" dirty="0">
                <a:solidFill>
                  <a:srgbClr val="4A4A4A"/>
                </a:solidFill>
                <a:latin typeface="Calibri" pitchFamily="34" charset="0"/>
                <a:ea typeface="Calibri" pitchFamily="34" charset="-122"/>
                <a:cs typeface="Calibri" pitchFamily="34" charset="-120"/>
              </a:rPr>
              <a:t>Weighted Implied Price: €709  |  Current Price: €652  |  Implied Upside: +8.7%</a:t>
            </a:r>
            <a:endParaRPr lang="en-US" sz="1000" dirty="0"/>
          </a:p>
        </p:txBody>
      </p:sp>
      <p:sp>
        <p:nvSpPr>
          <p:cNvPr id="49" name="Text 47"/>
          <p:cNvSpPr/>
          <p:nvPr/>
        </p:nvSpPr>
        <p:spPr>
          <a:xfrm>
            <a:off x="548640" y="4572000"/>
            <a:ext cx="5852160" cy="182880"/>
          </a:xfrm>
          <a:prstGeom prst="rect">
            <a:avLst/>
          </a:prstGeom>
          <a:noFill/>
          <a:ln/>
        </p:spPr>
        <p:txBody>
          <a:bodyPr wrap="square" rtlCol="0" anchor="ctr"/>
          <a:lstStyle/>
          <a:p>
            <a:pPr indent="0" marL="0">
              <a:buNone/>
            </a:pPr>
            <a:r>
              <a:rPr lang="en-US" sz="800" i="1" dirty="0">
                <a:solidFill>
                  <a:srgbClr val="4A4A4A"/>
                </a:solidFill>
                <a:latin typeface="Calibri" pitchFamily="34" charset="0"/>
                <a:ea typeface="Calibri" pitchFamily="34" charset="-122"/>
                <a:cs typeface="Calibri" pitchFamily="34" charset="-120"/>
              </a:rPr>
              <a:t>Based on 35% DCF-Perpetuity, 35% DCF-Exit Multiple, 20% EV/EBITDA Comps, 10% EV/Revenue Comps weighting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647"/>
          </a:solidFill>
          <a:ln/>
        </p:spPr>
      </p:sp>
      <p:sp>
        <p:nvSpPr>
          <p:cNvPr id="3" name="Shape 1"/>
          <p:cNvSpPr/>
          <p:nvPr/>
        </p:nvSpPr>
        <p:spPr>
          <a:xfrm>
            <a:off x="0" y="685800"/>
            <a:ext cx="9144000" cy="36576"/>
          </a:xfrm>
          <a:prstGeom prst="rect">
            <a:avLst/>
          </a:prstGeom>
          <a:solidFill>
            <a:srgbClr val="C9A227"/>
          </a:solidFill>
          <a:ln/>
        </p:spPr>
      </p:sp>
      <p:sp>
        <p:nvSpPr>
          <p:cNvPr id="4" name="Text 2"/>
          <p:cNvSpPr/>
          <p:nvPr/>
        </p:nvSpPr>
        <p:spPr>
          <a:xfrm>
            <a:off x="365760" y="137160"/>
            <a:ext cx="640080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Key Investment Considerations</a:t>
            </a:r>
            <a:endParaRPr lang="en-US" sz="2200" dirty="0"/>
          </a:p>
        </p:txBody>
      </p:sp>
      <p:sp>
        <p:nvSpPr>
          <p:cNvPr id="5" name="Text 3"/>
          <p:cNvSpPr/>
          <p:nvPr/>
        </p:nvSpPr>
        <p:spPr>
          <a:xfrm>
            <a:off x="365760" y="411480"/>
            <a:ext cx="6400800" cy="228600"/>
          </a:xfrm>
          <a:prstGeom prst="rect">
            <a:avLst/>
          </a:prstGeom>
          <a:noFill/>
          <a:ln/>
        </p:spPr>
        <p:txBody>
          <a:bodyPr wrap="square" rtlCol="0" anchor="ctr"/>
          <a:lstStyle/>
          <a:p>
            <a:pPr indent="0" marL="0">
              <a:buNone/>
            </a:pPr>
            <a:r>
              <a:rPr lang="en-US" sz="1000" dirty="0">
                <a:solidFill>
                  <a:srgbClr val="C9A227"/>
                </a:solidFill>
                <a:latin typeface="Calibri" pitchFamily="34" charset="0"/>
                <a:ea typeface="Calibri" pitchFamily="34" charset="-122"/>
                <a:cs typeface="Calibri" pitchFamily="34" charset="-120"/>
              </a:rPr>
              <a:t>Risks &amp; Opportunities</a:t>
            </a:r>
            <a:endParaRPr lang="en-US" sz="1000" dirty="0"/>
          </a:p>
        </p:txBody>
      </p:sp>
      <p:sp>
        <p:nvSpPr>
          <p:cNvPr id="6" name="Text 4"/>
          <p:cNvSpPr/>
          <p:nvPr/>
        </p:nvSpPr>
        <p:spPr>
          <a:xfrm>
            <a:off x="365760" y="4892040"/>
            <a:ext cx="4572000" cy="182880"/>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ASML Holding N.V.  |  Confidential</a:t>
            </a:r>
            <a:endParaRPr lang="en-US" sz="800" dirty="0"/>
          </a:p>
        </p:txBody>
      </p:sp>
      <p:sp>
        <p:nvSpPr>
          <p:cNvPr id="7" name="Shape 5"/>
          <p:cNvSpPr/>
          <p:nvPr/>
        </p:nvSpPr>
        <p:spPr>
          <a:xfrm>
            <a:off x="365760" y="914400"/>
            <a:ext cx="4023360" cy="384048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8" name="Shape 6"/>
          <p:cNvSpPr/>
          <p:nvPr/>
        </p:nvSpPr>
        <p:spPr>
          <a:xfrm>
            <a:off x="365760" y="914400"/>
            <a:ext cx="4023360" cy="365760"/>
          </a:xfrm>
          <a:prstGeom prst="rect">
            <a:avLst/>
          </a:prstGeom>
          <a:solidFill>
            <a:srgbClr val="B71C1C"/>
          </a:solidFill>
          <a:ln/>
        </p:spPr>
      </p:sp>
      <p:sp>
        <p:nvSpPr>
          <p:cNvPr id="9" name="Text 7"/>
          <p:cNvSpPr/>
          <p:nvPr/>
        </p:nvSpPr>
        <p:spPr>
          <a:xfrm>
            <a:off x="548640" y="960120"/>
            <a:ext cx="365760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Key Risks</a:t>
            </a:r>
            <a:endParaRPr lang="en-US" sz="1400" dirty="0"/>
          </a:p>
        </p:txBody>
      </p:sp>
      <p:sp>
        <p:nvSpPr>
          <p:cNvPr id="10" name="Text 8"/>
          <p:cNvSpPr/>
          <p:nvPr/>
        </p:nvSpPr>
        <p:spPr>
          <a:xfrm>
            <a:off x="502920" y="1417320"/>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Geopolitical &amp; Export Controls</a:t>
            </a:r>
            <a:endParaRPr lang="en-US" sz="1000" dirty="0"/>
          </a:p>
        </p:txBody>
      </p:sp>
      <p:sp>
        <p:nvSpPr>
          <p:cNvPr id="11" name="Text 9"/>
          <p:cNvSpPr/>
          <p:nvPr/>
        </p:nvSpPr>
        <p:spPr>
          <a:xfrm>
            <a:off x="502920" y="1618488"/>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US/Dutch restrictions on China sales could impact ~20% of revenue.</a:t>
            </a:r>
            <a:endParaRPr lang="en-US" sz="800" dirty="0"/>
          </a:p>
        </p:txBody>
      </p:sp>
      <p:sp>
        <p:nvSpPr>
          <p:cNvPr id="12" name="Text 10"/>
          <p:cNvSpPr/>
          <p:nvPr/>
        </p:nvSpPr>
        <p:spPr>
          <a:xfrm>
            <a:off x="502920" y="2039112"/>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Customer Concentration</a:t>
            </a:r>
            <a:endParaRPr lang="en-US" sz="1000" dirty="0"/>
          </a:p>
        </p:txBody>
      </p:sp>
      <p:sp>
        <p:nvSpPr>
          <p:cNvPr id="13" name="Text 11"/>
          <p:cNvSpPr/>
          <p:nvPr/>
        </p:nvSpPr>
        <p:spPr>
          <a:xfrm>
            <a:off x="502920" y="2240280"/>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Top 3 customers (TSMC, Samsung, Intel) represent majority of revenue.</a:t>
            </a:r>
            <a:endParaRPr lang="en-US" sz="800" dirty="0"/>
          </a:p>
        </p:txBody>
      </p:sp>
      <p:sp>
        <p:nvSpPr>
          <p:cNvPr id="14" name="Text 12"/>
          <p:cNvSpPr/>
          <p:nvPr/>
        </p:nvSpPr>
        <p:spPr>
          <a:xfrm>
            <a:off x="502920" y="2660904"/>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Cyclicality</a:t>
            </a:r>
            <a:endParaRPr lang="en-US" sz="1000" dirty="0"/>
          </a:p>
        </p:txBody>
      </p:sp>
      <p:sp>
        <p:nvSpPr>
          <p:cNvPr id="15" name="Text 13"/>
          <p:cNvSpPr/>
          <p:nvPr/>
        </p:nvSpPr>
        <p:spPr>
          <a:xfrm>
            <a:off x="502920" y="2862072"/>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Semiconductor industry is highly cyclical. AI demand may not sustain.</a:t>
            </a:r>
            <a:endParaRPr lang="en-US" sz="800" dirty="0"/>
          </a:p>
        </p:txBody>
      </p:sp>
      <p:sp>
        <p:nvSpPr>
          <p:cNvPr id="16" name="Text 14"/>
          <p:cNvSpPr/>
          <p:nvPr/>
        </p:nvSpPr>
        <p:spPr>
          <a:xfrm>
            <a:off x="502920" y="3282696"/>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Valuation Premium</a:t>
            </a:r>
            <a:endParaRPr lang="en-US" sz="1000" dirty="0"/>
          </a:p>
        </p:txBody>
      </p:sp>
      <p:sp>
        <p:nvSpPr>
          <p:cNvPr id="17" name="Text 15"/>
          <p:cNvSpPr/>
          <p:nvPr/>
        </p:nvSpPr>
        <p:spPr>
          <a:xfrm>
            <a:off x="502920" y="3483864"/>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Trading at 60%+ premium to peers. Execution miss could compress multiples.</a:t>
            </a:r>
            <a:endParaRPr lang="en-US" sz="800" dirty="0"/>
          </a:p>
        </p:txBody>
      </p:sp>
      <p:sp>
        <p:nvSpPr>
          <p:cNvPr id="18" name="Text 16"/>
          <p:cNvSpPr/>
          <p:nvPr/>
        </p:nvSpPr>
        <p:spPr>
          <a:xfrm>
            <a:off x="502920" y="3904488"/>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Technology Disruption</a:t>
            </a:r>
            <a:endParaRPr lang="en-US" sz="1000" dirty="0"/>
          </a:p>
        </p:txBody>
      </p:sp>
      <p:sp>
        <p:nvSpPr>
          <p:cNvPr id="19" name="Text 17"/>
          <p:cNvSpPr/>
          <p:nvPr/>
        </p:nvSpPr>
        <p:spPr>
          <a:xfrm>
            <a:off x="502920" y="4105656"/>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Emerging alternatives (xLight) could threaten EUV monopoly long-term.</a:t>
            </a:r>
            <a:endParaRPr lang="en-US" sz="800" dirty="0"/>
          </a:p>
        </p:txBody>
      </p:sp>
      <p:sp>
        <p:nvSpPr>
          <p:cNvPr id="20" name="Shape 18"/>
          <p:cNvSpPr/>
          <p:nvPr/>
        </p:nvSpPr>
        <p:spPr>
          <a:xfrm>
            <a:off x="4754880" y="914400"/>
            <a:ext cx="4023360" cy="3840480"/>
          </a:xfrm>
          <a:prstGeom prst="rect">
            <a:avLst/>
          </a:prstGeom>
          <a:solidFill>
            <a:srgbClr val="F7F7F7"/>
          </a:solidFill>
          <a:ln/>
          <a:effectLst>
            <a:outerShdw sx="100000" sy="100000" kx="0" ky="0" algn="bl" rotWithShape="0" blurRad="50800" dist="25400" dir="8100000">
              <a:srgbClr val="000000">
                <a:alpha val="12000"/>
              </a:srgbClr>
            </a:outerShdw>
          </a:effectLst>
        </p:spPr>
      </p:sp>
      <p:sp>
        <p:nvSpPr>
          <p:cNvPr id="21" name="Shape 19"/>
          <p:cNvSpPr/>
          <p:nvPr/>
        </p:nvSpPr>
        <p:spPr>
          <a:xfrm>
            <a:off x="4754880" y="914400"/>
            <a:ext cx="4023360" cy="365760"/>
          </a:xfrm>
          <a:prstGeom prst="rect">
            <a:avLst/>
          </a:prstGeom>
          <a:solidFill>
            <a:srgbClr val="1B5E20"/>
          </a:solidFill>
          <a:ln/>
        </p:spPr>
      </p:sp>
      <p:sp>
        <p:nvSpPr>
          <p:cNvPr id="22" name="Text 20"/>
          <p:cNvSpPr/>
          <p:nvPr/>
        </p:nvSpPr>
        <p:spPr>
          <a:xfrm>
            <a:off x="4937760" y="960120"/>
            <a:ext cx="365760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Key Opportunities</a:t>
            </a:r>
            <a:endParaRPr lang="en-US" sz="1400" dirty="0"/>
          </a:p>
        </p:txBody>
      </p:sp>
      <p:sp>
        <p:nvSpPr>
          <p:cNvPr id="23" name="Text 21"/>
          <p:cNvSpPr/>
          <p:nvPr/>
        </p:nvSpPr>
        <p:spPr>
          <a:xfrm>
            <a:off x="4892040" y="1417320"/>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AI &amp; HPC Demand</a:t>
            </a:r>
            <a:endParaRPr lang="en-US" sz="1000" dirty="0"/>
          </a:p>
        </p:txBody>
      </p:sp>
      <p:sp>
        <p:nvSpPr>
          <p:cNvPr id="24" name="Text 22"/>
          <p:cNvSpPr/>
          <p:nvPr/>
        </p:nvSpPr>
        <p:spPr>
          <a:xfrm>
            <a:off x="4892040" y="1618488"/>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Unprecedented demand for advanced AI chips requiring EUV lithography.</a:t>
            </a:r>
            <a:endParaRPr lang="en-US" sz="800" dirty="0"/>
          </a:p>
        </p:txBody>
      </p:sp>
      <p:sp>
        <p:nvSpPr>
          <p:cNvPr id="25" name="Text 23"/>
          <p:cNvSpPr/>
          <p:nvPr/>
        </p:nvSpPr>
        <p:spPr>
          <a:xfrm>
            <a:off x="4892040" y="2039112"/>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High-NA EUV Ramp</a:t>
            </a:r>
            <a:endParaRPr lang="en-US" sz="1000" dirty="0"/>
          </a:p>
        </p:txBody>
      </p:sp>
      <p:sp>
        <p:nvSpPr>
          <p:cNvPr id="26" name="Text 24"/>
          <p:cNvSpPr/>
          <p:nvPr/>
        </p:nvSpPr>
        <p:spPr>
          <a:xfrm>
            <a:off x="4892040" y="2240280"/>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Next-gen High-NA systems ($350M+ ASP) enable sub-2nm nodes.</a:t>
            </a:r>
            <a:endParaRPr lang="en-US" sz="800" dirty="0"/>
          </a:p>
        </p:txBody>
      </p:sp>
      <p:sp>
        <p:nvSpPr>
          <p:cNvPr id="27" name="Text 25"/>
          <p:cNvSpPr/>
          <p:nvPr/>
        </p:nvSpPr>
        <p:spPr>
          <a:xfrm>
            <a:off x="4892040" y="2660904"/>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Installed Base Growth</a:t>
            </a:r>
            <a:endParaRPr lang="en-US" sz="1000" dirty="0"/>
          </a:p>
        </p:txBody>
      </p:sp>
      <p:sp>
        <p:nvSpPr>
          <p:cNvPr id="28" name="Text 26"/>
          <p:cNvSpPr/>
          <p:nvPr/>
        </p:nvSpPr>
        <p:spPr>
          <a:xfrm>
            <a:off x="4892040" y="2862072"/>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Service &amp; upgrades (~€6.5B annually) provide recurring, high-margin revenue.</a:t>
            </a:r>
            <a:endParaRPr lang="en-US" sz="800" dirty="0"/>
          </a:p>
        </p:txBody>
      </p:sp>
      <p:sp>
        <p:nvSpPr>
          <p:cNvPr id="29" name="Text 27"/>
          <p:cNvSpPr/>
          <p:nvPr/>
        </p:nvSpPr>
        <p:spPr>
          <a:xfrm>
            <a:off x="4892040" y="3282696"/>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2030 Revenue Opportunity</a:t>
            </a:r>
            <a:endParaRPr lang="en-US" sz="1000" dirty="0"/>
          </a:p>
        </p:txBody>
      </p:sp>
      <p:sp>
        <p:nvSpPr>
          <p:cNvPr id="30" name="Text 28"/>
          <p:cNvSpPr/>
          <p:nvPr/>
        </p:nvSpPr>
        <p:spPr>
          <a:xfrm>
            <a:off x="4892040" y="3483864"/>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Management guidance: €44-60B revenue with 56-60% gross margins.</a:t>
            </a:r>
            <a:endParaRPr lang="en-US" sz="800" dirty="0"/>
          </a:p>
        </p:txBody>
      </p:sp>
      <p:sp>
        <p:nvSpPr>
          <p:cNvPr id="31" name="Text 29"/>
          <p:cNvSpPr/>
          <p:nvPr/>
        </p:nvSpPr>
        <p:spPr>
          <a:xfrm>
            <a:off x="4892040" y="3904488"/>
            <a:ext cx="3749040" cy="201168"/>
          </a:xfrm>
          <a:prstGeom prst="rect">
            <a:avLst/>
          </a:prstGeom>
          <a:noFill/>
          <a:ln/>
        </p:spPr>
        <p:txBody>
          <a:bodyPr wrap="square" rtlCol="0" anchor="ctr"/>
          <a:lstStyle/>
          <a:p>
            <a:pPr indent="0" marL="0">
              <a:buNone/>
            </a:pPr>
            <a:r>
              <a:rPr lang="en-US" sz="1000" b="1" dirty="0">
                <a:solidFill>
                  <a:srgbClr val="0A2647"/>
                </a:solidFill>
                <a:latin typeface="Calibri" pitchFamily="34" charset="0"/>
                <a:ea typeface="Calibri" pitchFamily="34" charset="-122"/>
                <a:cs typeface="Calibri" pitchFamily="34" charset="-120"/>
              </a:rPr>
              <a:t>Unassailable Moat</a:t>
            </a:r>
            <a:endParaRPr lang="en-US" sz="1000" dirty="0"/>
          </a:p>
        </p:txBody>
      </p:sp>
      <p:sp>
        <p:nvSpPr>
          <p:cNvPr id="32" name="Text 30"/>
          <p:cNvSpPr/>
          <p:nvPr/>
        </p:nvSpPr>
        <p:spPr>
          <a:xfrm>
            <a:off x="4892040" y="4105656"/>
            <a:ext cx="3749040" cy="384048"/>
          </a:xfrm>
          <a:prstGeom prst="rect">
            <a:avLst/>
          </a:prstGeom>
          <a:noFill/>
          <a:ln/>
        </p:spPr>
        <p:txBody>
          <a:bodyPr wrap="square" rtlCol="0" anchor="ctr"/>
          <a:lstStyle/>
          <a:p>
            <a:pPr indent="0" marL="0">
              <a:buNone/>
            </a:pPr>
            <a:r>
              <a:rPr lang="en-US" sz="800" dirty="0">
                <a:solidFill>
                  <a:srgbClr val="4A4A4A"/>
                </a:solidFill>
                <a:latin typeface="Calibri" pitchFamily="34" charset="0"/>
                <a:ea typeface="Calibri" pitchFamily="34" charset="-122"/>
                <a:cs typeface="Calibri" pitchFamily="34" charset="-120"/>
              </a:rPr>
              <a:t>100,000+ components, 5,150 suppliers. China 10-15 years behind.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227"/>
          </a:solidFill>
          <a:ln/>
        </p:spPr>
      </p:sp>
      <p:sp>
        <p:nvSpPr>
          <p:cNvPr id="3" name="Text 1"/>
          <p:cNvSpPr/>
          <p:nvPr/>
        </p:nvSpPr>
        <p:spPr>
          <a:xfrm>
            <a:off x="457200" y="640080"/>
            <a:ext cx="8229600" cy="50292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Investment Recommendation</a:t>
            </a:r>
            <a:endParaRPr lang="en-US" sz="3200" dirty="0"/>
          </a:p>
        </p:txBody>
      </p:sp>
      <p:sp>
        <p:nvSpPr>
          <p:cNvPr id="4" name="Shape 2"/>
          <p:cNvSpPr/>
          <p:nvPr/>
        </p:nvSpPr>
        <p:spPr>
          <a:xfrm>
            <a:off x="457200" y="1371600"/>
            <a:ext cx="3840480" cy="2560320"/>
          </a:xfrm>
          <a:prstGeom prst="rect">
            <a:avLst/>
          </a:prstGeom>
          <a:solidFill>
            <a:srgbClr val="C9A227"/>
          </a:solidFill>
          <a:ln/>
        </p:spPr>
      </p:sp>
      <p:sp>
        <p:nvSpPr>
          <p:cNvPr id="5" name="Text 3"/>
          <p:cNvSpPr/>
          <p:nvPr/>
        </p:nvSpPr>
        <p:spPr>
          <a:xfrm>
            <a:off x="457200" y="1554480"/>
            <a:ext cx="3840480" cy="914400"/>
          </a:xfrm>
          <a:prstGeom prst="rect">
            <a:avLst/>
          </a:prstGeom>
          <a:noFill/>
          <a:ln/>
        </p:spPr>
        <p:txBody>
          <a:bodyPr wrap="square" rtlCol="0" anchor="ctr"/>
          <a:lstStyle/>
          <a:p>
            <a:pPr algn="ctr" indent="0" marL="0">
              <a:buNone/>
            </a:pPr>
            <a:r>
              <a:rPr lang="en-US" sz="6400" b="1" dirty="0">
                <a:solidFill>
                  <a:srgbClr val="0A2647"/>
                </a:solidFill>
                <a:latin typeface="Georgia" pitchFamily="34" charset="0"/>
                <a:ea typeface="Georgia" pitchFamily="34" charset="-122"/>
                <a:cs typeface="Georgia" pitchFamily="34" charset="-120"/>
              </a:rPr>
              <a:t>BUY</a:t>
            </a:r>
            <a:endParaRPr lang="en-US" sz="6400" dirty="0"/>
          </a:p>
        </p:txBody>
      </p:sp>
      <p:sp>
        <p:nvSpPr>
          <p:cNvPr id="6" name="Text 4"/>
          <p:cNvSpPr/>
          <p:nvPr/>
        </p:nvSpPr>
        <p:spPr>
          <a:xfrm>
            <a:off x="457200" y="2514600"/>
            <a:ext cx="3840480" cy="411480"/>
          </a:xfrm>
          <a:prstGeom prst="rect">
            <a:avLst/>
          </a:prstGeom>
          <a:noFill/>
          <a:ln/>
        </p:spPr>
        <p:txBody>
          <a:bodyPr wrap="square" rtlCol="0" anchor="ctr"/>
          <a:lstStyle/>
          <a:p>
            <a:pPr algn="ctr" indent="0" marL="0">
              <a:buNone/>
            </a:pPr>
            <a:r>
              <a:rPr lang="en-US" sz="2400" b="1" dirty="0">
                <a:solidFill>
                  <a:srgbClr val="0A2647"/>
                </a:solidFill>
                <a:latin typeface="Calibri" pitchFamily="34" charset="0"/>
                <a:ea typeface="Calibri" pitchFamily="34" charset="-122"/>
                <a:cs typeface="Calibri" pitchFamily="34" charset="-120"/>
              </a:rPr>
              <a:t>Target Price: €709</a:t>
            </a:r>
            <a:endParaRPr lang="en-US" sz="2400" dirty="0"/>
          </a:p>
        </p:txBody>
      </p:sp>
      <p:sp>
        <p:nvSpPr>
          <p:cNvPr id="7" name="Text 5"/>
          <p:cNvSpPr/>
          <p:nvPr/>
        </p:nvSpPr>
        <p:spPr>
          <a:xfrm>
            <a:off x="457200" y="2926080"/>
            <a:ext cx="3840480" cy="320040"/>
          </a:xfrm>
          <a:prstGeom prst="rect">
            <a:avLst/>
          </a:prstGeom>
          <a:noFill/>
          <a:ln/>
        </p:spPr>
        <p:txBody>
          <a:bodyPr wrap="square" rtlCol="0" anchor="ctr"/>
          <a:lstStyle/>
          <a:p>
            <a:pPr algn="ctr" indent="0" marL="0">
              <a:buNone/>
            </a:pPr>
            <a:r>
              <a:rPr lang="en-US" sz="1800" dirty="0">
                <a:solidFill>
                  <a:srgbClr val="061325"/>
                </a:solidFill>
                <a:latin typeface="Calibri" pitchFamily="34" charset="0"/>
                <a:ea typeface="Calibri" pitchFamily="34" charset="-122"/>
                <a:cs typeface="Calibri" pitchFamily="34" charset="-120"/>
              </a:rPr>
              <a:t>+8.7% Upside</a:t>
            </a:r>
            <a:endParaRPr lang="en-US" sz="1800" dirty="0"/>
          </a:p>
        </p:txBody>
      </p:sp>
      <p:sp>
        <p:nvSpPr>
          <p:cNvPr id="8" name="Text 6"/>
          <p:cNvSpPr/>
          <p:nvPr/>
        </p:nvSpPr>
        <p:spPr>
          <a:xfrm>
            <a:off x="457200" y="3291840"/>
            <a:ext cx="3840480" cy="274320"/>
          </a:xfrm>
          <a:prstGeom prst="rect">
            <a:avLst/>
          </a:prstGeom>
          <a:noFill/>
          <a:ln/>
        </p:spPr>
        <p:txBody>
          <a:bodyPr wrap="square" rtlCol="0" anchor="ctr"/>
          <a:lstStyle/>
          <a:p>
            <a:pPr algn="ctr" indent="0" marL="0">
              <a:buNone/>
            </a:pPr>
            <a:r>
              <a:rPr lang="en-US" sz="1400" dirty="0">
                <a:solidFill>
                  <a:srgbClr val="061325"/>
                </a:solidFill>
                <a:latin typeface="Calibri" pitchFamily="34" charset="0"/>
                <a:ea typeface="Calibri" pitchFamily="34" charset="-122"/>
                <a:cs typeface="Calibri" pitchFamily="34" charset="-120"/>
              </a:rPr>
              <a:t>vs. Current: €652</a:t>
            </a:r>
            <a:endParaRPr lang="en-US" sz="1400" dirty="0"/>
          </a:p>
        </p:txBody>
      </p:sp>
      <p:sp>
        <p:nvSpPr>
          <p:cNvPr id="9" name="Text 7"/>
          <p:cNvSpPr/>
          <p:nvPr/>
        </p:nvSpPr>
        <p:spPr>
          <a:xfrm>
            <a:off x="4572000" y="1371600"/>
            <a:ext cx="4114800" cy="320040"/>
          </a:xfrm>
          <a:prstGeom prst="rect">
            <a:avLst/>
          </a:prstGeom>
          <a:noFill/>
          <a:ln/>
        </p:spPr>
        <p:txBody>
          <a:bodyPr wrap="square" rtlCol="0" anchor="ctr"/>
          <a:lstStyle/>
          <a:p>
            <a:pPr indent="0" marL="0">
              <a:buNone/>
            </a:pPr>
            <a:r>
              <a:rPr lang="en-US" sz="1600" b="1" dirty="0">
                <a:solidFill>
                  <a:srgbClr val="C9A227"/>
                </a:solidFill>
                <a:latin typeface="Calibri" pitchFamily="34" charset="0"/>
                <a:ea typeface="Calibri" pitchFamily="34" charset="-122"/>
                <a:cs typeface="Calibri" pitchFamily="34" charset="-120"/>
              </a:rPr>
              <a:t>Investment Rationale</a:t>
            </a:r>
            <a:endParaRPr lang="en-US" sz="1600" dirty="0"/>
          </a:p>
        </p:txBody>
      </p:sp>
      <p:sp>
        <p:nvSpPr>
          <p:cNvPr id="10" name="Shape 8"/>
          <p:cNvSpPr/>
          <p:nvPr/>
        </p:nvSpPr>
        <p:spPr>
          <a:xfrm>
            <a:off x="4572000" y="1874520"/>
            <a:ext cx="73152" cy="73152"/>
          </a:xfrm>
          <a:prstGeom prst="rect">
            <a:avLst/>
          </a:prstGeom>
          <a:solidFill>
            <a:srgbClr val="C9A227"/>
          </a:solidFill>
          <a:ln/>
        </p:spPr>
      </p:sp>
      <p:sp>
        <p:nvSpPr>
          <p:cNvPr id="11" name="Text 9"/>
          <p:cNvSpPr/>
          <p:nvPr/>
        </p:nvSpPr>
        <p:spPr>
          <a:xfrm>
            <a:off x="4754880" y="1828800"/>
            <a:ext cx="39319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Irreplaceable monopoly in EUV lithography</a:t>
            </a:r>
            <a:endParaRPr lang="en-US" sz="1200" dirty="0"/>
          </a:p>
        </p:txBody>
      </p:sp>
      <p:sp>
        <p:nvSpPr>
          <p:cNvPr id="12" name="Shape 10"/>
          <p:cNvSpPr/>
          <p:nvPr/>
        </p:nvSpPr>
        <p:spPr>
          <a:xfrm>
            <a:off x="4572000" y="2258568"/>
            <a:ext cx="73152" cy="73152"/>
          </a:xfrm>
          <a:prstGeom prst="rect">
            <a:avLst/>
          </a:prstGeom>
          <a:solidFill>
            <a:srgbClr val="C9A227"/>
          </a:solidFill>
          <a:ln/>
        </p:spPr>
      </p:sp>
      <p:sp>
        <p:nvSpPr>
          <p:cNvPr id="13" name="Text 11"/>
          <p:cNvSpPr/>
          <p:nvPr/>
        </p:nvSpPr>
        <p:spPr>
          <a:xfrm>
            <a:off x="4754880" y="2212848"/>
            <a:ext cx="39319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Essential infrastructure for AI revolution</a:t>
            </a:r>
            <a:endParaRPr lang="en-US" sz="1200" dirty="0"/>
          </a:p>
        </p:txBody>
      </p:sp>
      <p:sp>
        <p:nvSpPr>
          <p:cNvPr id="14" name="Shape 12"/>
          <p:cNvSpPr/>
          <p:nvPr/>
        </p:nvSpPr>
        <p:spPr>
          <a:xfrm>
            <a:off x="4572000" y="2642616"/>
            <a:ext cx="73152" cy="73152"/>
          </a:xfrm>
          <a:prstGeom prst="rect">
            <a:avLst/>
          </a:prstGeom>
          <a:solidFill>
            <a:srgbClr val="C9A227"/>
          </a:solidFill>
          <a:ln/>
        </p:spPr>
      </p:sp>
      <p:sp>
        <p:nvSpPr>
          <p:cNvPr id="15" name="Text 13"/>
          <p:cNvSpPr/>
          <p:nvPr/>
        </p:nvSpPr>
        <p:spPr>
          <a:xfrm>
            <a:off x="4754880" y="2596896"/>
            <a:ext cx="39319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Strong FCF generation &amp; shareholder returns</a:t>
            </a:r>
            <a:endParaRPr lang="en-US" sz="1200" dirty="0"/>
          </a:p>
        </p:txBody>
      </p:sp>
      <p:sp>
        <p:nvSpPr>
          <p:cNvPr id="16" name="Shape 14"/>
          <p:cNvSpPr/>
          <p:nvPr/>
        </p:nvSpPr>
        <p:spPr>
          <a:xfrm>
            <a:off x="4572000" y="3026664"/>
            <a:ext cx="73152" cy="73152"/>
          </a:xfrm>
          <a:prstGeom prst="rect">
            <a:avLst/>
          </a:prstGeom>
          <a:solidFill>
            <a:srgbClr val="C9A227"/>
          </a:solidFill>
          <a:ln/>
        </p:spPr>
      </p:sp>
      <p:sp>
        <p:nvSpPr>
          <p:cNvPr id="17" name="Text 15"/>
          <p:cNvSpPr/>
          <p:nvPr/>
        </p:nvSpPr>
        <p:spPr>
          <a:xfrm>
            <a:off x="4754880" y="2980944"/>
            <a:ext cx="39319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Attractive risk/reward at current levels</a:t>
            </a:r>
            <a:endParaRPr lang="en-US" sz="1200" dirty="0"/>
          </a:p>
        </p:txBody>
      </p:sp>
      <p:sp>
        <p:nvSpPr>
          <p:cNvPr id="18" name="Shape 16"/>
          <p:cNvSpPr/>
          <p:nvPr/>
        </p:nvSpPr>
        <p:spPr>
          <a:xfrm>
            <a:off x="4572000" y="3410712"/>
            <a:ext cx="73152" cy="73152"/>
          </a:xfrm>
          <a:prstGeom prst="rect">
            <a:avLst/>
          </a:prstGeom>
          <a:solidFill>
            <a:srgbClr val="C9A227"/>
          </a:solidFill>
          <a:ln/>
        </p:spPr>
      </p:sp>
      <p:sp>
        <p:nvSpPr>
          <p:cNvPr id="19" name="Text 17"/>
          <p:cNvSpPr/>
          <p:nvPr/>
        </p:nvSpPr>
        <p:spPr>
          <a:xfrm>
            <a:off x="4754880" y="3364992"/>
            <a:ext cx="39319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2030 revenue opportunity: €44-60 billion</a:t>
            </a:r>
            <a:endParaRPr lang="en-US" sz="1200" dirty="0"/>
          </a:p>
        </p:txBody>
      </p:sp>
      <p:sp>
        <p:nvSpPr>
          <p:cNvPr id="20" name="Text 18"/>
          <p:cNvSpPr/>
          <p:nvPr/>
        </p:nvSpPr>
        <p:spPr>
          <a:xfrm>
            <a:off x="457200" y="4434840"/>
            <a:ext cx="8229600" cy="365760"/>
          </a:xfrm>
          <a:prstGeom prst="rect">
            <a:avLst/>
          </a:prstGeom>
          <a:noFill/>
          <a:ln/>
        </p:spPr>
        <p:txBody>
          <a:bodyPr wrap="square" rtlCol="0" anchor="ctr"/>
          <a:lstStyle/>
          <a:p>
            <a:pPr indent="0" marL="0">
              <a:buNone/>
            </a:pPr>
            <a:r>
              <a:rPr lang="en-US" sz="800" i="1" dirty="0">
                <a:solidFill>
                  <a:srgbClr val="E0E0E0"/>
                </a:solidFill>
                <a:latin typeface="Calibri" pitchFamily="34" charset="0"/>
                <a:ea typeface="Calibri" pitchFamily="34" charset="-122"/>
                <a:cs typeface="Calibri" pitchFamily="34" charset="-120"/>
              </a:rPr>
              <a:t>This analysis is for discussion purposes only. Valuation ranges reflect sensitivity to key assumptions including WACC (8-12%), terminal growth (1.5-3.5%), and exit multiples (12-18x). Active scenario: Bull Case.</a:t>
            </a:r>
            <a:endParaRPr lang="en-US" sz="800" dirty="0"/>
          </a:p>
        </p:txBody>
      </p:sp>
      <p:sp>
        <p:nvSpPr>
          <p:cNvPr id="21" name="Text 19"/>
          <p:cNvSpPr/>
          <p:nvPr/>
        </p:nvSpPr>
        <p:spPr>
          <a:xfrm>
            <a:off x="457200" y="4800600"/>
            <a:ext cx="4572000" cy="182880"/>
          </a:xfrm>
          <a:prstGeom prst="rect">
            <a:avLst/>
          </a:prstGeom>
          <a:noFill/>
          <a:ln/>
        </p:spPr>
        <p:txBody>
          <a:bodyPr wrap="square" rtlCol="0" anchor="ctr"/>
          <a:lstStyle/>
          <a:p>
            <a:pPr indent="0" marL="0">
              <a:buNone/>
            </a:pPr>
            <a:r>
              <a:rPr lang="en-US" sz="800" dirty="0">
                <a:solidFill>
                  <a:srgbClr val="E0E0E0"/>
                </a:solidFill>
                <a:latin typeface="Calibri" pitchFamily="34" charset="0"/>
                <a:ea typeface="Calibri" pitchFamily="34" charset="-122"/>
                <a:cs typeface="Calibri" pitchFamily="34" charset="-120"/>
              </a:rPr>
              <a:t>Strictly Confidential  |  February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ASML Holding N.V. - Equity Research &amp; Valuation Analysis</dc:title>
  <dc:subject>PptxGenJS Presentation</dc:subject>
  <dc:creator>Investment Banking Division</dc:creator>
  <cp:lastModifiedBy>Investment Banking Division</cp:lastModifiedBy>
  <cp:revision>1</cp:revision>
  <dcterms:created xsi:type="dcterms:W3CDTF">2026-02-06T15:00:30Z</dcterms:created>
  <dcterms:modified xsi:type="dcterms:W3CDTF">2026-02-06T15:00:30Z</dcterms:modified>
</cp:coreProperties>
</file>